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65" r:id="rId6"/>
    <p:sldId id="266" r:id="rId7"/>
    <p:sldId id="267" r:id="rId8"/>
    <p:sldId id="268" r:id="rId9"/>
    <p:sldId id="270" r:id="rId10"/>
    <p:sldId id="269" r:id="rId11"/>
    <p:sldId id="271" r:id="rId12"/>
    <p:sldId id="272" r:id="rId13"/>
    <p:sldId id="264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F0A23-2824-DF33-DEBB-7C64ADB01F74}" v="179" dt="2026-03-04T19:40:55.0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323" autoAdjust="0"/>
  </p:normalViewPr>
  <p:slideViewPr>
    <p:cSldViewPr snapToGrid="0">
      <p:cViewPr varScale="1">
        <p:scale>
          <a:sx n="67" d="100"/>
          <a:sy n="67" d="100"/>
        </p:scale>
        <p:origin x="10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1EC60A-4218-49E2-92FC-1CDEDB75888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BD8E81-65C7-45C8-A300-03AB1DCB60B6}">
      <dgm:prSet/>
      <dgm:spPr/>
      <dgm:t>
        <a:bodyPr/>
        <a:lstStyle/>
        <a:p>
          <a:r>
            <a:rPr lang="en-US"/>
            <a:t>Lehrer Schüler System</a:t>
          </a:r>
        </a:p>
      </dgm:t>
    </dgm:pt>
    <dgm:pt modelId="{4061676D-2EF9-442C-AB0D-3A7643B5D5D7}" type="parTrans" cxnId="{6B1D9CD1-A856-425B-8E3E-BE2F6F9E30A2}">
      <dgm:prSet/>
      <dgm:spPr/>
      <dgm:t>
        <a:bodyPr/>
        <a:lstStyle/>
        <a:p>
          <a:endParaRPr lang="en-US"/>
        </a:p>
      </dgm:t>
    </dgm:pt>
    <dgm:pt modelId="{3D976345-7450-4963-8534-847221ECA663}" type="sibTrans" cxnId="{6B1D9CD1-A856-425B-8E3E-BE2F6F9E30A2}">
      <dgm:prSet/>
      <dgm:spPr/>
      <dgm:t>
        <a:bodyPr/>
        <a:lstStyle/>
        <a:p>
          <a:endParaRPr lang="en-US"/>
        </a:p>
      </dgm:t>
    </dgm:pt>
    <dgm:pt modelId="{EB1361F5-EC32-42A8-AF6D-9E79C40FE261}">
      <dgm:prSet/>
      <dgm:spPr/>
      <dgm:t>
        <a:bodyPr/>
        <a:lstStyle/>
        <a:p>
          <a:r>
            <a:rPr lang="en-US"/>
            <a:t>Übungen für alle Abzeichen </a:t>
          </a:r>
        </a:p>
      </dgm:t>
    </dgm:pt>
    <dgm:pt modelId="{5B31BC38-A76D-4D99-9749-4A2A18768882}" type="parTrans" cxnId="{A5907037-4087-49D1-B998-14D24B85ABCB}">
      <dgm:prSet/>
      <dgm:spPr/>
      <dgm:t>
        <a:bodyPr/>
        <a:lstStyle/>
        <a:p>
          <a:endParaRPr lang="en-US"/>
        </a:p>
      </dgm:t>
    </dgm:pt>
    <dgm:pt modelId="{A4AA4BA8-D271-4B29-96A6-082C41F7BC61}" type="sibTrans" cxnId="{A5907037-4087-49D1-B998-14D24B85ABCB}">
      <dgm:prSet/>
      <dgm:spPr/>
      <dgm:t>
        <a:bodyPr/>
        <a:lstStyle/>
        <a:p>
          <a:endParaRPr lang="en-US"/>
        </a:p>
      </dgm:t>
    </dgm:pt>
    <dgm:pt modelId="{1BA1D553-C205-423B-B928-B548DE2DE267}" type="pres">
      <dgm:prSet presAssocID="{7A1EC60A-4218-49E2-92FC-1CDEDB75888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5A70F87-D61A-4E79-AF92-46DEB3F5C4DE}" type="pres">
      <dgm:prSet presAssocID="{89BD8E81-65C7-45C8-A300-03AB1DCB60B6}" presName="hierRoot1" presStyleCnt="0"/>
      <dgm:spPr/>
    </dgm:pt>
    <dgm:pt modelId="{73FC2CC4-693C-4800-922C-68210CB9A8AE}" type="pres">
      <dgm:prSet presAssocID="{89BD8E81-65C7-45C8-A300-03AB1DCB60B6}" presName="composite" presStyleCnt="0"/>
      <dgm:spPr/>
    </dgm:pt>
    <dgm:pt modelId="{10780DE3-ADD7-4DFE-BBE7-F9811CAE1B57}" type="pres">
      <dgm:prSet presAssocID="{89BD8E81-65C7-45C8-A300-03AB1DCB60B6}" presName="background" presStyleLbl="node0" presStyleIdx="0" presStyleCnt="2"/>
      <dgm:spPr/>
    </dgm:pt>
    <dgm:pt modelId="{75B2F40F-9996-4937-A095-52851F9A0F85}" type="pres">
      <dgm:prSet presAssocID="{89BD8E81-65C7-45C8-A300-03AB1DCB60B6}" presName="text" presStyleLbl="fgAcc0" presStyleIdx="0" presStyleCnt="2">
        <dgm:presLayoutVars>
          <dgm:chPref val="3"/>
        </dgm:presLayoutVars>
      </dgm:prSet>
      <dgm:spPr/>
    </dgm:pt>
    <dgm:pt modelId="{66129ED5-EE75-4BCD-BD36-2D849CFC702B}" type="pres">
      <dgm:prSet presAssocID="{89BD8E81-65C7-45C8-A300-03AB1DCB60B6}" presName="hierChild2" presStyleCnt="0"/>
      <dgm:spPr/>
    </dgm:pt>
    <dgm:pt modelId="{C828BD4A-599F-40C2-BA95-F6D91B72AFAD}" type="pres">
      <dgm:prSet presAssocID="{EB1361F5-EC32-42A8-AF6D-9E79C40FE261}" presName="hierRoot1" presStyleCnt="0"/>
      <dgm:spPr/>
    </dgm:pt>
    <dgm:pt modelId="{B7781605-47AE-42DA-858D-2B3FDC7BD2E3}" type="pres">
      <dgm:prSet presAssocID="{EB1361F5-EC32-42A8-AF6D-9E79C40FE261}" presName="composite" presStyleCnt="0"/>
      <dgm:spPr/>
    </dgm:pt>
    <dgm:pt modelId="{59AAAEB9-41EE-4BFB-9742-097F9D15208F}" type="pres">
      <dgm:prSet presAssocID="{EB1361F5-EC32-42A8-AF6D-9E79C40FE261}" presName="background" presStyleLbl="node0" presStyleIdx="1" presStyleCnt="2"/>
      <dgm:spPr/>
    </dgm:pt>
    <dgm:pt modelId="{A1BE8206-6129-4003-B0D7-87C4D0464402}" type="pres">
      <dgm:prSet presAssocID="{EB1361F5-EC32-42A8-AF6D-9E79C40FE261}" presName="text" presStyleLbl="fgAcc0" presStyleIdx="1" presStyleCnt="2">
        <dgm:presLayoutVars>
          <dgm:chPref val="3"/>
        </dgm:presLayoutVars>
      </dgm:prSet>
      <dgm:spPr/>
    </dgm:pt>
    <dgm:pt modelId="{83EB776E-4D23-41F3-80F9-F75103EF2208}" type="pres">
      <dgm:prSet presAssocID="{EB1361F5-EC32-42A8-AF6D-9E79C40FE261}" presName="hierChild2" presStyleCnt="0"/>
      <dgm:spPr/>
    </dgm:pt>
  </dgm:ptLst>
  <dgm:cxnLst>
    <dgm:cxn modelId="{0CCD8600-5291-446D-96FF-E82A5235AEE3}" type="presOf" srcId="{EB1361F5-EC32-42A8-AF6D-9E79C40FE261}" destId="{A1BE8206-6129-4003-B0D7-87C4D0464402}" srcOrd="0" destOrd="0" presId="urn:microsoft.com/office/officeart/2005/8/layout/hierarchy1"/>
    <dgm:cxn modelId="{0E304514-EB78-40FB-B6B4-86FD0BB4D924}" type="presOf" srcId="{89BD8E81-65C7-45C8-A300-03AB1DCB60B6}" destId="{75B2F40F-9996-4937-A095-52851F9A0F85}" srcOrd="0" destOrd="0" presId="urn:microsoft.com/office/officeart/2005/8/layout/hierarchy1"/>
    <dgm:cxn modelId="{A5907037-4087-49D1-B998-14D24B85ABCB}" srcId="{7A1EC60A-4218-49E2-92FC-1CDEDB75888C}" destId="{EB1361F5-EC32-42A8-AF6D-9E79C40FE261}" srcOrd="1" destOrd="0" parTransId="{5B31BC38-A76D-4D99-9749-4A2A18768882}" sibTransId="{A4AA4BA8-D271-4B29-96A6-082C41F7BC61}"/>
    <dgm:cxn modelId="{6B1D9CD1-A856-425B-8E3E-BE2F6F9E30A2}" srcId="{7A1EC60A-4218-49E2-92FC-1CDEDB75888C}" destId="{89BD8E81-65C7-45C8-A300-03AB1DCB60B6}" srcOrd="0" destOrd="0" parTransId="{4061676D-2EF9-442C-AB0D-3A7643B5D5D7}" sibTransId="{3D976345-7450-4963-8534-847221ECA663}"/>
    <dgm:cxn modelId="{4DC274EB-44E1-4282-ACC5-B26D1D043342}" type="presOf" srcId="{7A1EC60A-4218-49E2-92FC-1CDEDB75888C}" destId="{1BA1D553-C205-423B-B928-B548DE2DE267}" srcOrd="0" destOrd="0" presId="urn:microsoft.com/office/officeart/2005/8/layout/hierarchy1"/>
    <dgm:cxn modelId="{08D545A1-4DBD-4CC8-A7BA-674742F59B8D}" type="presParOf" srcId="{1BA1D553-C205-423B-B928-B548DE2DE267}" destId="{55A70F87-D61A-4E79-AF92-46DEB3F5C4DE}" srcOrd="0" destOrd="0" presId="urn:microsoft.com/office/officeart/2005/8/layout/hierarchy1"/>
    <dgm:cxn modelId="{A35A4375-0EB1-446C-BE97-10441494D56B}" type="presParOf" srcId="{55A70F87-D61A-4E79-AF92-46DEB3F5C4DE}" destId="{73FC2CC4-693C-4800-922C-68210CB9A8AE}" srcOrd="0" destOrd="0" presId="urn:microsoft.com/office/officeart/2005/8/layout/hierarchy1"/>
    <dgm:cxn modelId="{2B2CF43C-AE74-4C65-89B1-339CD8C072B1}" type="presParOf" srcId="{73FC2CC4-693C-4800-922C-68210CB9A8AE}" destId="{10780DE3-ADD7-4DFE-BBE7-F9811CAE1B57}" srcOrd="0" destOrd="0" presId="urn:microsoft.com/office/officeart/2005/8/layout/hierarchy1"/>
    <dgm:cxn modelId="{FFA25237-DC8A-426C-AA94-E2E0407C6F81}" type="presParOf" srcId="{73FC2CC4-693C-4800-922C-68210CB9A8AE}" destId="{75B2F40F-9996-4937-A095-52851F9A0F85}" srcOrd="1" destOrd="0" presId="urn:microsoft.com/office/officeart/2005/8/layout/hierarchy1"/>
    <dgm:cxn modelId="{88A02452-722F-4AF2-8E48-E45252A6F166}" type="presParOf" srcId="{55A70F87-D61A-4E79-AF92-46DEB3F5C4DE}" destId="{66129ED5-EE75-4BCD-BD36-2D849CFC702B}" srcOrd="1" destOrd="0" presId="urn:microsoft.com/office/officeart/2005/8/layout/hierarchy1"/>
    <dgm:cxn modelId="{2B82837F-81DA-40D5-B010-5344EA212914}" type="presParOf" srcId="{1BA1D553-C205-423B-B928-B548DE2DE267}" destId="{C828BD4A-599F-40C2-BA95-F6D91B72AFAD}" srcOrd="1" destOrd="0" presId="urn:microsoft.com/office/officeart/2005/8/layout/hierarchy1"/>
    <dgm:cxn modelId="{0F9C932B-0594-4258-B1D7-C49C7ECBA693}" type="presParOf" srcId="{C828BD4A-599F-40C2-BA95-F6D91B72AFAD}" destId="{B7781605-47AE-42DA-858D-2B3FDC7BD2E3}" srcOrd="0" destOrd="0" presId="urn:microsoft.com/office/officeart/2005/8/layout/hierarchy1"/>
    <dgm:cxn modelId="{AD70075E-8A6C-4B96-A6D3-3B94D2DC9D28}" type="presParOf" srcId="{B7781605-47AE-42DA-858D-2B3FDC7BD2E3}" destId="{59AAAEB9-41EE-4BFB-9742-097F9D15208F}" srcOrd="0" destOrd="0" presId="urn:microsoft.com/office/officeart/2005/8/layout/hierarchy1"/>
    <dgm:cxn modelId="{F3B2077A-DDBB-4669-B095-DADAAEE9DEF7}" type="presParOf" srcId="{B7781605-47AE-42DA-858D-2B3FDC7BD2E3}" destId="{A1BE8206-6129-4003-B0D7-87C4D0464402}" srcOrd="1" destOrd="0" presId="urn:microsoft.com/office/officeart/2005/8/layout/hierarchy1"/>
    <dgm:cxn modelId="{D685982A-6727-498E-A347-9FA1A2E2BEC8}" type="presParOf" srcId="{C828BD4A-599F-40C2-BA95-F6D91B72AFAD}" destId="{83EB776E-4D23-41F3-80F9-F75103EF22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80DE3-ADD7-4DFE-BBE7-F9811CAE1B57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2F40F-9996-4937-A095-52851F9A0F8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Lehrer Schüler System</a:t>
          </a:r>
        </a:p>
      </dsp:txBody>
      <dsp:txXfrm>
        <a:off x="608661" y="692298"/>
        <a:ext cx="4508047" cy="2799040"/>
      </dsp:txXfrm>
    </dsp:sp>
    <dsp:sp modelId="{59AAAEB9-41EE-4BFB-9742-097F9D15208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E8206-6129-4003-B0D7-87C4D0464402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Übungen für alle Abzeichen 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32740-4822-4B0E-8863-C132529FC749}" type="datetimeFigureOut">
              <a:t>09.03.2026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94D93-2F44-4CF9-95AB-F105AD5DA5D8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72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EC08-F387-8249-8C4C-2477DCC1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5F423-E67D-3DE6-27DF-85FF3D504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C8243-09E6-73B8-10EB-2495C874A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</a:t>
            </a:r>
            <a:r>
              <a:rPr lang="en-US" dirty="0" err="1"/>
              <a:t>gibt</a:t>
            </a:r>
            <a:r>
              <a:rPr lang="en-US" dirty="0"/>
              <a:t> vier </a:t>
            </a:r>
            <a:r>
              <a:rPr lang="en-US" dirty="0" err="1"/>
              <a:t>Stufen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jedem</a:t>
            </a:r>
            <a:r>
              <a:rPr lang="en-US" dirty="0"/>
              <a:t> Instrument, für die man </a:t>
            </a:r>
            <a:r>
              <a:rPr lang="en-US" dirty="0" err="1"/>
              <a:t>Übertrittsprüfungen</a:t>
            </a:r>
            <a:r>
              <a:rPr lang="en-US" dirty="0"/>
              <a:t> </a:t>
            </a:r>
            <a:r>
              <a:rPr lang="en-US" dirty="0" err="1"/>
              <a:t>macht</a:t>
            </a:r>
            <a:r>
              <a:rPr lang="en-US" dirty="0"/>
              <a:t>: Junior, Bronze, Silber und Gold.</a:t>
            </a:r>
          </a:p>
          <a:p>
            <a:r>
              <a:rPr lang="en-US" b="1" dirty="0"/>
              <a:t>Aber </a:t>
            </a:r>
            <a:r>
              <a:rPr lang="en-US" b="1" dirty="0" err="1"/>
              <a:t>hier</a:t>
            </a:r>
            <a:r>
              <a:rPr lang="en-US" b="1" dirty="0"/>
              <a:t> </a:t>
            </a:r>
            <a:r>
              <a:rPr lang="en-US" b="1" dirty="0" err="1"/>
              <a:t>ist</a:t>
            </a:r>
            <a:r>
              <a:rPr lang="en-US" b="1" dirty="0"/>
              <a:t> der Haken:</a:t>
            </a:r>
            <a:r>
              <a:rPr lang="en-US" dirty="0"/>
              <a:t> Ab Bronze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Theorieprüfung</a:t>
            </a:r>
            <a:r>
              <a:rPr lang="en-US" dirty="0"/>
              <a:t> – </a:t>
            </a:r>
            <a:r>
              <a:rPr lang="en-US" dirty="0" err="1"/>
              <a:t>verpflichtend</a:t>
            </a:r>
            <a:r>
              <a:rPr lang="en-US" dirty="0"/>
              <a:t>.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Theorie</a:t>
            </a:r>
            <a:r>
              <a:rPr lang="en-US" dirty="0"/>
              <a:t> </a:t>
            </a:r>
            <a:r>
              <a:rPr lang="en-US" dirty="0" err="1"/>
              <a:t>nützt</a:t>
            </a:r>
            <a:r>
              <a:rPr lang="en-US" dirty="0"/>
              <a:t> das </a:t>
            </a:r>
            <a:r>
              <a:rPr lang="en-US" dirty="0" err="1"/>
              <a:t>beste</a:t>
            </a:r>
            <a:r>
              <a:rPr lang="en-US" dirty="0"/>
              <a:t> </a:t>
            </a:r>
            <a:r>
              <a:rPr lang="en-US" dirty="0" err="1"/>
              <a:t>instrumentale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nichts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Ohne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diese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Theorieprüfung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darf</a:t>
            </a:r>
            <a:r>
              <a:rPr lang="en-US" dirty="0">
                <a:ea typeface="Calibri"/>
                <a:cs typeface="Calibri"/>
              </a:rPr>
              <a:t> man nicht </a:t>
            </a:r>
            <a:r>
              <a:rPr lang="en-US" dirty="0" err="1">
                <a:ea typeface="Calibri"/>
                <a:cs typeface="Calibri"/>
              </a:rPr>
              <a:t>aufsteigen</a:t>
            </a:r>
          </a:p>
          <a:p>
            <a:r>
              <a:rPr lang="en-US" dirty="0"/>
              <a:t>Und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bereitet</a:t>
            </a:r>
            <a:r>
              <a:rPr lang="en-US" dirty="0"/>
              <a:t> man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aktuell</a:t>
            </a:r>
            <a:r>
              <a:rPr lang="en-US" dirty="0"/>
              <a:t> auf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Theorieprüfung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? 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b="1" dirty="0"/>
              <a:t>quasi </a:t>
            </a:r>
            <a:r>
              <a:rPr lang="en-US" b="1" dirty="0" err="1"/>
              <a:t>wie</a:t>
            </a:r>
            <a:r>
              <a:rPr lang="en-US" b="1" dirty="0"/>
              <a:t> </a:t>
            </a:r>
            <a:r>
              <a:rPr lang="en-US" b="1" dirty="0" err="1"/>
              <a:t>beim</a:t>
            </a:r>
            <a:r>
              <a:rPr lang="en-US" b="1" dirty="0"/>
              <a:t> </a:t>
            </a:r>
            <a:r>
              <a:rPr lang="en-US" b="1" dirty="0" err="1"/>
              <a:t>Führerschein</a:t>
            </a:r>
            <a:r>
              <a:rPr lang="en-US" dirty="0"/>
              <a:t>: Es </a:t>
            </a:r>
            <a:r>
              <a:rPr lang="en-US" dirty="0" err="1"/>
              <a:t>gibt</a:t>
            </a:r>
            <a:r>
              <a:rPr lang="en-US" dirty="0"/>
              <a:t> </a:t>
            </a:r>
            <a:r>
              <a:rPr lang="en-US" dirty="0" err="1"/>
              <a:t>Blockkurse</a:t>
            </a:r>
            <a:r>
              <a:rPr lang="en-US" dirty="0"/>
              <a:t>. Man </a:t>
            </a:r>
            <a:r>
              <a:rPr lang="en-US" dirty="0" err="1"/>
              <a:t>sitzt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Beispiel</a:t>
            </a:r>
            <a:r>
              <a:rPr lang="en-US" dirty="0"/>
              <a:t> </a:t>
            </a:r>
            <a:r>
              <a:rPr lang="en-US" dirty="0" err="1"/>
              <a:t>fünf</a:t>
            </a:r>
            <a:r>
              <a:rPr lang="en-US" dirty="0"/>
              <a:t> </a:t>
            </a:r>
            <a:r>
              <a:rPr lang="en-US" dirty="0" err="1"/>
              <a:t>Wochen</a:t>
            </a:r>
            <a:r>
              <a:rPr lang="en-US" dirty="0"/>
              <a:t> lang </a:t>
            </a:r>
            <a:r>
              <a:rPr lang="en-US" dirty="0" err="1"/>
              <a:t>jeden</a:t>
            </a:r>
            <a:r>
              <a:rPr lang="en-US" dirty="0"/>
              <a:t> Samstag für </a:t>
            </a:r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Stunden</a:t>
            </a:r>
            <a:r>
              <a:rPr lang="en-US" dirty="0"/>
              <a:t> in der </a:t>
            </a:r>
            <a:r>
              <a:rPr lang="en-US" dirty="0" err="1"/>
              <a:t>Musikschule</a:t>
            </a:r>
            <a:r>
              <a:rPr lang="en-US" dirty="0"/>
              <a:t>, und am Ende </a:t>
            </a:r>
            <a:r>
              <a:rPr lang="en-US" dirty="0" err="1"/>
              <a:t>gibt</a:t>
            </a:r>
            <a:r>
              <a:rPr lang="en-US" dirty="0"/>
              <a:t> es den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großen</a:t>
            </a:r>
            <a:r>
              <a:rPr lang="en-US" dirty="0"/>
              <a:t> </a:t>
            </a:r>
            <a:r>
              <a:rPr lang="en-US" dirty="0" err="1"/>
              <a:t>Prüfungstermin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ea typeface="Calibri"/>
                <a:cs typeface="Calibri"/>
              </a:rPr>
              <a:t>Eigene</a:t>
            </a:r>
            <a:r>
              <a:rPr lang="en-US" dirty="0">
                <a:ea typeface="Calibri"/>
                <a:cs typeface="Calibri"/>
              </a:rPr>
              <a:t> Motivation </a:t>
            </a:r>
            <a:r>
              <a:rPr lang="en-US" dirty="0" err="1">
                <a:ea typeface="Calibri"/>
                <a:cs typeface="Calibri"/>
              </a:rPr>
              <a:t>einbauen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mit</a:t>
            </a:r>
            <a:r>
              <a:rPr lang="en-US" dirty="0">
                <a:ea typeface="Calibri"/>
                <a:cs typeface="Calibri"/>
              </a:rPr>
              <a:t> Erik (</a:t>
            </a:r>
            <a:r>
              <a:rPr lang="en-US" dirty="0" err="1">
                <a:ea typeface="Calibri"/>
                <a:cs typeface="Calibri"/>
              </a:rPr>
              <a:t>überall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unterbringen</a:t>
            </a:r>
            <a:r>
              <a:rPr lang="en-US" dirty="0">
                <a:ea typeface="Calibri"/>
                <a:cs typeface="Calibri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F5D4C-8B5F-EADE-668A-1460E083B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21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00242-06BB-3F9F-2AA5-D285A5F7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BAA72-5127-73E1-A56E-87FCFC397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70A52-0C16-ED6D-EA29-3D0239ADD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 </a:t>
            </a:r>
            <a:r>
              <a:rPr lang="en-US" dirty="0" err="1"/>
              <a:t>genau</a:t>
            </a:r>
            <a:r>
              <a:rPr lang="en-US" dirty="0"/>
              <a:t> da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Lücke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System: Wenn man am </a:t>
            </a:r>
            <a:r>
              <a:rPr lang="en-US" dirty="0" err="1"/>
              <a:t>Wochenende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Fußballmatch</a:t>
            </a:r>
            <a:r>
              <a:rPr lang="en-US" dirty="0"/>
              <a:t> hat </a:t>
            </a:r>
            <a:r>
              <a:rPr lang="en-US" dirty="0" err="1"/>
              <a:t>oder</a:t>
            </a:r>
            <a:r>
              <a:rPr lang="en-US" dirty="0"/>
              <a:t> mal </a:t>
            </a:r>
            <a:r>
              <a:rPr lang="en-US" dirty="0" err="1"/>
              <a:t>krank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verpasst</a:t>
            </a:r>
            <a:r>
              <a:rPr lang="en-US" dirty="0"/>
              <a:t> man </a:t>
            </a:r>
            <a:r>
              <a:rPr lang="en-US" dirty="0" err="1"/>
              <a:t>sofort</a:t>
            </a:r>
            <a:r>
              <a:rPr lang="en-US" dirty="0"/>
              <a:t> </a:t>
            </a:r>
            <a:r>
              <a:rPr lang="en-US" dirty="0" err="1"/>
              <a:t>riesige</a:t>
            </a:r>
            <a:r>
              <a:rPr lang="en-US" dirty="0"/>
              <a:t> </a:t>
            </a:r>
            <a:r>
              <a:rPr lang="en-US" dirty="0" err="1"/>
              <a:t>Teile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Stoff.</a:t>
            </a:r>
          </a:p>
          <a:p>
            <a:r>
              <a:rPr lang="en-US" dirty="0"/>
              <a:t>Es </a:t>
            </a:r>
            <a:r>
              <a:rPr lang="en-US" dirty="0" err="1"/>
              <a:t>gibt</a:t>
            </a:r>
            <a:r>
              <a:rPr lang="en-US" dirty="0"/>
              <a:t> </a:t>
            </a:r>
            <a:r>
              <a:rPr lang="en-US" dirty="0" err="1"/>
              <a:t>derzeit</a:t>
            </a:r>
            <a:r>
              <a:rPr lang="en-US" dirty="0"/>
              <a:t> </a:t>
            </a:r>
            <a:r>
              <a:rPr lang="en-US" dirty="0" err="1"/>
              <a:t>einfach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offizielle</a:t>
            </a:r>
            <a:r>
              <a:rPr lang="en-US" dirty="0"/>
              <a:t> Online-</a:t>
            </a:r>
            <a:r>
              <a:rPr lang="en-US" dirty="0" err="1"/>
              <a:t>Übungsplattform</a:t>
            </a:r>
            <a:r>
              <a:rPr lang="en-US" dirty="0"/>
              <a:t>, um das </a:t>
            </a:r>
            <a:r>
              <a:rPr lang="en-US" dirty="0" err="1"/>
              <a:t>flexibel</a:t>
            </a:r>
            <a:r>
              <a:rPr lang="en-US" dirty="0"/>
              <a:t> von </a:t>
            </a:r>
            <a:r>
              <a:rPr lang="en-US" dirty="0" err="1"/>
              <a:t>zu</a:t>
            </a:r>
            <a:r>
              <a:rPr lang="en-US" dirty="0"/>
              <a:t> Hause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nachzuholen</a:t>
            </a:r>
            <a:r>
              <a:rPr lang="en-US" dirty="0"/>
              <a:t>. </a:t>
            </a:r>
            <a:r>
              <a:rPr lang="en-US" dirty="0" err="1"/>
              <a:t>Gelernt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Arbeitsblätter</a:t>
            </a:r>
            <a:r>
              <a:rPr lang="en-US" dirty="0"/>
              <a:t>. Es </a:t>
            </a:r>
            <a:r>
              <a:rPr lang="en-US" dirty="0" err="1"/>
              <a:t>fehlt</a:t>
            </a:r>
            <a:r>
              <a:rPr lang="en-US" dirty="0"/>
              <a:t> </a:t>
            </a:r>
            <a:r>
              <a:rPr lang="en-US" dirty="0" err="1"/>
              <a:t>komplett</a:t>
            </a:r>
            <a:r>
              <a:rPr lang="en-US" dirty="0"/>
              <a:t> an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digitalen</a:t>
            </a:r>
            <a:r>
              <a:rPr lang="en-US" dirty="0"/>
              <a:t> </a:t>
            </a:r>
            <a:r>
              <a:rPr lang="en-US" dirty="0" err="1"/>
              <a:t>Vorbereitung</a:t>
            </a:r>
            <a:r>
              <a:rPr lang="en-US" dirty="0"/>
              <a:t> auf die </a:t>
            </a:r>
            <a:r>
              <a:rPr lang="en-US" dirty="0" err="1"/>
              <a:t>Prüfungssituation</a:t>
            </a:r>
            <a:r>
              <a:rPr lang="en-US" dirty="0"/>
              <a:t> – und </a:t>
            </a:r>
            <a:r>
              <a:rPr lang="en-US" dirty="0" err="1"/>
              <a:t>genau</a:t>
            </a:r>
            <a:r>
              <a:rPr lang="en-US" dirty="0"/>
              <a:t> das </a:t>
            </a:r>
            <a:r>
              <a:rPr lang="en-US" dirty="0" err="1"/>
              <a:t>lösen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jetzt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Simtune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Feedback:</a:t>
            </a:r>
          </a:p>
          <a:p>
            <a:r>
              <a:rPr lang="en-US" dirty="0">
                <a:ea typeface="Calibri"/>
                <a:cs typeface="Calibri"/>
              </a:rPr>
              <a:t>Positives in der </a:t>
            </a:r>
            <a:r>
              <a:rPr lang="en-US" dirty="0" err="1">
                <a:ea typeface="Calibri"/>
                <a:cs typeface="Calibri"/>
              </a:rPr>
              <a:t>Vordergrund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bringen</a:t>
            </a:r>
            <a:r>
              <a:rPr lang="en-US" dirty="0">
                <a:ea typeface="Calibri"/>
                <a:cs typeface="Calibri"/>
              </a:rPr>
              <a:t> </a:t>
            </a:r>
          </a:p>
          <a:p>
            <a:r>
              <a:rPr lang="en-US" dirty="0">
                <a:ea typeface="Calibri"/>
                <a:cs typeface="Calibri"/>
              </a:rPr>
              <a:t>Was </a:t>
            </a:r>
            <a:r>
              <a:rPr lang="en-US" dirty="0" err="1">
                <a:ea typeface="Calibri"/>
                <a:cs typeface="Calibri"/>
              </a:rPr>
              <a:t>ist</a:t>
            </a:r>
            <a:r>
              <a:rPr lang="en-US" dirty="0">
                <a:ea typeface="Calibri"/>
                <a:cs typeface="Calibri"/>
              </a:rPr>
              <a:t> der Benefit von der App -&gt; </a:t>
            </a:r>
            <a:r>
              <a:rPr lang="en-US" dirty="0" err="1">
                <a:ea typeface="Calibri"/>
                <a:cs typeface="Calibri"/>
              </a:rPr>
              <a:t>Funfactor</a:t>
            </a:r>
            <a:r>
              <a:rPr lang="en-US" dirty="0">
                <a:ea typeface="Calibri"/>
                <a:cs typeface="Calibri"/>
              </a:rPr>
              <a:t>, (Gamification)</a:t>
            </a: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Folie </a:t>
            </a:r>
            <a:r>
              <a:rPr lang="en-US" dirty="0" err="1">
                <a:ea typeface="Calibri"/>
                <a:cs typeface="Calibri"/>
              </a:rPr>
              <a:t>lassen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aber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kürzer</a:t>
            </a:r>
            <a:r>
              <a:rPr lang="en-US" dirty="0">
                <a:ea typeface="Calibri"/>
                <a:cs typeface="Calibri"/>
              </a:rPr>
              <a:t> und </a:t>
            </a:r>
            <a:r>
              <a:rPr lang="en-US" dirty="0" err="1">
                <a:ea typeface="Calibri"/>
                <a:cs typeface="Calibri"/>
              </a:rPr>
              <a:t>viel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mehr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sagen</a:t>
            </a:r>
            <a:r>
              <a:rPr lang="en-US" dirty="0">
                <a:ea typeface="Calibri"/>
                <a:cs typeface="Calibri"/>
              </a:rPr>
              <a:t> was </a:t>
            </a:r>
            <a:r>
              <a:rPr lang="en-US" dirty="0" err="1">
                <a:ea typeface="Calibri"/>
                <a:cs typeface="Calibri"/>
              </a:rPr>
              <a:t>wir</a:t>
            </a:r>
            <a:r>
              <a:rPr lang="en-US" dirty="0">
                <a:ea typeface="Calibri"/>
                <a:cs typeface="Calibri"/>
              </a:rPr>
              <a:t> positive </a:t>
            </a:r>
            <a:r>
              <a:rPr lang="en-US" dirty="0" err="1">
                <a:ea typeface="Calibri"/>
                <a:cs typeface="Calibri"/>
              </a:rPr>
              <a:t>verändert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haben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Bei der </a:t>
            </a:r>
            <a:r>
              <a:rPr lang="en-US" dirty="0" err="1">
                <a:ea typeface="Calibri"/>
                <a:cs typeface="Calibri"/>
              </a:rPr>
              <a:t>Vorstellung</a:t>
            </a:r>
            <a:r>
              <a:rPr lang="en-US" dirty="0">
                <a:ea typeface="Calibri"/>
                <a:cs typeface="Calibri"/>
              </a:rPr>
              <a:t> der </a:t>
            </a:r>
            <a:r>
              <a:rPr lang="en-US" dirty="0" err="1">
                <a:ea typeface="Calibri"/>
                <a:cs typeface="Calibri"/>
              </a:rPr>
              <a:t>Probleme</a:t>
            </a:r>
            <a:r>
              <a:rPr lang="en-US" dirty="0">
                <a:ea typeface="Calibri"/>
                <a:cs typeface="Calibri"/>
              </a:rPr>
              <a:t> die </a:t>
            </a:r>
            <a:r>
              <a:rPr lang="en-US" dirty="0" err="1">
                <a:ea typeface="Calibri"/>
                <a:cs typeface="Calibri"/>
              </a:rPr>
              <a:t>Lösung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sagen</a:t>
            </a: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Nicht die </a:t>
            </a:r>
            <a:r>
              <a:rPr lang="en-US" dirty="0" err="1">
                <a:ea typeface="Calibri"/>
                <a:cs typeface="Calibri"/>
              </a:rPr>
              <a:t>Lücke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im</a:t>
            </a:r>
            <a:r>
              <a:rPr lang="en-US" dirty="0">
                <a:ea typeface="Calibri"/>
                <a:cs typeface="Calibri"/>
              </a:rPr>
              <a:t> System </a:t>
            </a:r>
            <a:r>
              <a:rPr lang="en-US" dirty="0" err="1">
                <a:ea typeface="Calibri"/>
                <a:cs typeface="Calibri"/>
              </a:rPr>
              <a:t>schließen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sagen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sondern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wie</a:t>
            </a:r>
            <a:r>
              <a:rPr lang="en-US" dirty="0">
                <a:ea typeface="Calibri"/>
                <a:cs typeface="Calibri"/>
              </a:rPr>
              <a:t> und was </a:t>
            </a:r>
            <a:r>
              <a:rPr lang="en-US" dirty="0" err="1">
                <a:ea typeface="Calibri"/>
                <a:cs typeface="Calibri"/>
              </a:rPr>
              <a:t>wir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geschlossen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haben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Wir </a:t>
            </a:r>
            <a:r>
              <a:rPr lang="en-US" dirty="0" err="1">
                <a:ea typeface="Calibri"/>
                <a:cs typeface="Calibri"/>
              </a:rPr>
              <a:t>lassen</a:t>
            </a:r>
            <a:r>
              <a:rPr lang="en-US" dirty="0">
                <a:ea typeface="Calibri"/>
                <a:cs typeface="Calibri"/>
              </a:rPr>
              <a:t> das und </a:t>
            </a:r>
            <a:r>
              <a:rPr lang="en-US" dirty="0" err="1">
                <a:ea typeface="Calibri"/>
                <a:cs typeface="Calibri"/>
              </a:rPr>
              <a:t>wie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wir</a:t>
            </a:r>
            <a:r>
              <a:rPr lang="en-US" dirty="0">
                <a:ea typeface="Calibri"/>
                <a:cs typeface="Calibri"/>
              </a:rPr>
              <a:t> das </a:t>
            </a:r>
            <a:r>
              <a:rPr lang="en-US" dirty="0" err="1">
                <a:ea typeface="Calibri"/>
                <a:cs typeface="Calibri"/>
              </a:rPr>
              <a:t>behoben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haben</a:t>
            </a:r>
            <a:r>
              <a:rPr lang="en-US" dirty="0">
                <a:ea typeface="Calibri"/>
                <a:cs typeface="Calibri"/>
              </a:rPr>
              <a:t> (1-2 </a:t>
            </a:r>
            <a:r>
              <a:rPr lang="en-US" dirty="0" err="1">
                <a:ea typeface="Calibri"/>
                <a:cs typeface="Calibri"/>
              </a:rPr>
              <a:t>Punkte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mehr</a:t>
            </a:r>
            <a:r>
              <a:rPr lang="en-US" dirty="0">
                <a:ea typeface="Calibri"/>
                <a:cs typeface="Calibri"/>
              </a:rPr>
              <a:t> was </a:t>
            </a:r>
            <a:r>
              <a:rPr lang="en-US" dirty="0" err="1">
                <a:ea typeface="Calibri"/>
                <a:cs typeface="Calibri"/>
              </a:rPr>
              <a:t>wir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drinnen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haben</a:t>
            </a:r>
            <a:r>
              <a:rPr lang="en-US" dirty="0">
                <a:ea typeface="Calibri"/>
                <a:cs typeface="Calibri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5C646-9B13-0382-F7E0-E3B2261A6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2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0A2F-0DC2-F88E-BEB1-854DBF40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8FF44-43FB-E570-3B0A-AFE8D5D61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97C8E-3DEC-75D7-08E9-9508E48E1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Feature Set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exakt</a:t>
            </a:r>
            <a:r>
              <a:rPr lang="en-US" dirty="0"/>
              <a:t> auf den </a:t>
            </a:r>
            <a:r>
              <a:rPr lang="en-US" dirty="0" err="1"/>
              <a:t>Lehrplan</a:t>
            </a:r>
            <a:r>
              <a:rPr lang="en-US" dirty="0"/>
              <a:t> </a:t>
            </a:r>
            <a:r>
              <a:rPr lang="en-US" dirty="0" err="1"/>
              <a:t>zugeschnitten</a:t>
            </a:r>
            <a:r>
              <a:rPr lang="en-US" dirty="0"/>
              <a:t>, </a:t>
            </a:r>
            <a:r>
              <a:rPr lang="en-US" dirty="0" err="1"/>
              <a:t>speziell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. Wir </a:t>
            </a:r>
            <a:r>
              <a:rPr lang="en-US" dirty="0" err="1"/>
              <a:t>decken</a:t>
            </a:r>
            <a:r>
              <a:rPr lang="en-US" dirty="0"/>
              <a:t> alle </a:t>
            </a:r>
            <a:r>
              <a:rPr lang="en-US" dirty="0" err="1"/>
              <a:t>wichtigen</a:t>
            </a:r>
            <a:r>
              <a:rPr lang="en-US" dirty="0"/>
              <a:t> </a:t>
            </a:r>
            <a:r>
              <a:rPr lang="en-US" dirty="0" err="1"/>
              <a:t>Kategorien</a:t>
            </a:r>
            <a:r>
              <a:rPr lang="en-US" dirty="0"/>
              <a:t> ab. Dazu </a:t>
            </a:r>
            <a:r>
              <a:rPr lang="en-US" dirty="0" err="1"/>
              <a:t>gehören</a:t>
            </a:r>
            <a:r>
              <a:rPr lang="en-US" dirty="0"/>
              <a:t> </a:t>
            </a:r>
            <a:r>
              <a:rPr lang="en-US" dirty="0" err="1"/>
              <a:t>visuelle</a:t>
            </a:r>
            <a:r>
              <a:rPr lang="en-US" dirty="0"/>
              <a:t> </a:t>
            </a: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Stammtöne</a:t>
            </a:r>
            <a:r>
              <a:rPr lang="en-US" dirty="0"/>
              <a:t>, </a:t>
            </a:r>
            <a:r>
              <a:rPr lang="en-US" dirty="0" err="1"/>
              <a:t>Tonleitern</a:t>
            </a:r>
            <a:r>
              <a:rPr lang="en-US" dirty="0"/>
              <a:t> und </a:t>
            </a:r>
            <a:r>
              <a:rPr lang="en-US" dirty="0" err="1"/>
              <a:t>Intervalle</a:t>
            </a:r>
            <a:r>
              <a:rPr lang="en-US" dirty="0"/>
              <a:t> . </a:t>
            </a:r>
          </a:p>
          <a:p>
            <a:endParaRPr lang="en-US" dirty="0"/>
          </a:p>
          <a:p>
            <a:r>
              <a:rPr lang="en-US" dirty="0"/>
              <a:t>Feature Set -&gt; </a:t>
            </a:r>
            <a:r>
              <a:rPr lang="en-US" dirty="0" err="1"/>
              <a:t>Übungen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, </a:t>
            </a:r>
            <a:r>
              <a:rPr lang="en-US" dirty="0" err="1"/>
              <a:t>dazu</a:t>
            </a:r>
            <a:r>
              <a:rPr lang="en-US" dirty="0"/>
              <a:t> </a:t>
            </a:r>
            <a:r>
              <a:rPr lang="en-US" dirty="0" err="1"/>
              <a:t>gehören</a:t>
            </a:r>
            <a:r>
              <a:rPr lang="en-US" dirty="0"/>
              <a:t> ….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Zu </a:t>
            </a:r>
            <a:r>
              <a:rPr lang="en-US" dirty="0" err="1">
                <a:ea typeface="Calibri"/>
                <a:cs typeface="Calibri"/>
              </a:rPr>
              <a:t>viele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Übungen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zu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wenig</a:t>
            </a:r>
            <a:r>
              <a:rPr lang="en-US" dirty="0">
                <a:ea typeface="Calibri"/>
                <a:cs typeface="Calibri"/>
              </a:rPr>
              <a:t> Detail</a:t>
            </a:r>
          </a:p>
          <a:p>
            <a:r>
              <a:rPr lang="en-US" dirty="0">
                <a:ea typeface="Calibri"/>
                <a:cs typeface="Calibri"/>
              </a:rPr>
              <a:t>Alle 3 </a:t>
            </a:r>
            <a:r>
              <a:rPr lang="en-US" dirty="0" err="1">
                <a:ea typeface="Calibri"/>
                <a:cs typeface="Calibri"/>
              </a:rPr>
              <a:t>Übungen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erklären</a:t>
            </a:r>
            <a:r>
              <a:rPr lang="en-US" dirty="0">
                <a:ea typeface="Calibri"/>
                <a:cs typeface="Calibri"/>
              </a:rPr>
              <a:t> die ich </a:t>
            </a:r>
            <a:r>
              <a:rPr lang="en-US" dirty="0" err="1">
                <a:ea typeface="Calibri"/>
                <a:cs typeface="Calibri"/>
              </a:rPr>
              <a:t>machen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Alle 6 </a:t>
            </a:r>
            <a:r>
              <a:rPr lang="en-US" dirty="0" err="1">
                <a:ea typeface="Calibri"/>
                <a:cs typeface="Calibri"/>
              </a:rPr>
              <a:t>anzeigen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gestaltung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hervorheben</a:t>
            </a: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Logo </a:t>
            </a:r>
            <a:r>
              <a:rPr lang="en-US" dirty="0" err="1">
                <a:ea typeface="Calibri"/>
                <a:cs typeface="Calibri"/>
              </a:rPr>
              <a:t>einbauen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wiedererkennungseffekt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55859-31D7-FAA0-2F79-C6E6856DD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2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49630-8C0A-8287-CF87-9187A2C1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9298F-3F60-9EB5-ACF5-9D0DB9F4B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61CEE-1EC5-AFE8-5954-9AB2C69AE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Feature Set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exakt</a:t>
            </a:r>
            <a:r>
              <a:rPr lang="en-US" dirty="0"/>
              <a:t> auf den </a:t>
            </a:r>
            <a:r>
              <a:rPr lang="en-US" dirty="0" err="1"/>
              <a:t>Lehrplan</a:t>
            </a:r>
            <a:r>
              <a:rPr lang="en-US" dirty="0"/>
              <a:t> </a:t>
            </a:r>
            <a:r>
              <a:rPr lang="en-US" dirty="0" err="1"/>
              <a:t>zugeschnitten</a:t>
            </a:r>
            <a:r>
              <a:rPr lang="en-US" dirty="0"/>
              <a:t>, </a:t>
            </a:r>
            <a:r>
              <a:rPr lang="en-US" dirty="0" err="1"/>
              <a:t>speziell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. Wir </a:t>
            </a:r>
            <a:r>
              <a:rPr lang="en-US" dirty="0" err="1"/>
              <a:t>decken</a:t>
            </a:r>
            <a:r>
              <a:rPr lang="en-US" dirty="0"/>
              <a:t> alle </a:t>
            </a:r>
            <a:r>
              <a:rPr lang="en-US" dirty="0" err="1"/>
              <a:t>wichtigen</a:t>
            </a:r>
            <a:r>
              <a:rPr lang="en-US" dirty="0"/>
              <a:t> </a:t>
            </a:r>
            <a:r>
              <a:rPr lang="en-US" dirty="0" err="1"/>
              <a:t>Kategorien</a:t>
            </a:r>
            <a:r>
              <a:rPr lang="en-US" dirty="0"/>
              <a:t> ab. Dazu </a:t>
            </a:r>
            <a:r>
              <a:rPr lang="en-US" dirty="0" err="1"/>
              <a:t>gehören</a:t>
            </a:r>
            <a:r>
              <a:rPr lang="en-US" dirty="0"/>
              <a:t> </a:t>
            </a:r>
            <a:r>
              <a:rPr lang="en-US" dirty="0" err="1"/>
              <a:t>visuelle</a:t>
            </a:r>
            <a:r>
              <a:rPr lang="en-US" dirty="0"/>
              <a:t> </a:t>
            </a: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Stammtöne</a:t>
            </a:r>
            <a:r>
              <a:rPr lang="en-US" dirty="0"/>
              <a:t>, </a:t>
            </a:r>
            <a:r>
              <a:rPr lang="en-US" dirty="0" err="1"/>
              <a:t>Tonleitern</a:t>
            </a:r>
            <a:r>
              <a:rPr lang="en-US" dirty="0"/>
              <a:t> und </a:t>
            </a:r>
            <a:r>
              <a:rPr lang="en-US" dirty="0" err="1"/>
              <a:t>Intervalle</a:t>
            </a:r>
            <a:r>
              <a:rPr lang="en-US" dirty="0"/>
              <a:t> . </a:t>
            </a:r>
          </a:p>
          <a:p>
            <a:endParaRPr lang="en-US" dirty="0"/>
          </a:p>
          <a:p>
            <a:r>
              <a:rPr lang="en-US" dirty="0"/>
              <a:t>Feature Set -&gt; </a:t>
            </a:r>
            <a:r>
              <a:rPr lang="en-US" dirty="0" err="1"/>
              <a:t>Übungen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, </a:t>
            </a:r>
            <a:r>
              <a:rPr lang="en-US" dirty="0" err="1"/>
              <a:t>dazu</a:t>
            </a:r>
            <a:r>
              <a:rPr lang="en-US" dirty="0"/>
              <a:t> </a:t>
            </a:r>
            <a:r>
              <a:rPr lang="en-US" dirty="0" err="1"/>
              <a:t>gehören</a:t>
            </a:r>
            <a:r>
              <a:rPr lang="en-US" dirty="0"/>
              <a:t> ….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Zu </a:t>
            </a:r>
            <a:r>
              <a:rPr lang="en-US" dirty="0" err="1">
                <a:ea typeface="Calibri"/>
                <a:cs typeface="Calibri"/>
              </a:rPr>
              <a:t>viele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Übungen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zu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wenig</a:t>
            </a:r>
            <a:r>
              <a:rPr lang="en-US" dirty="0">
                <a:ea typeface="Calibri"/>
                <a:cs typeface="Calibri"/>
              </a:rPr>
              <a:t> Detail</a:t>
            </a:r>
          </a:p>
          <a:p>
            <a:r>
              <a:rPr lang="en-US" dirty="0">
                <a:ea typeface="Calibri"/>
                <a:cs typeface="Calibri"/>
              </a:rPr>
              <a:t>Alle 3 </a:t>
            </a:r>
            <a:r>
              <a:rPr lang="en-US" dirty="0" err="1">
                <a:ea typeface="Calibri"/>
                <a:cs typeface="Calibri"/>
              </a:rPr>
              <a:t>Übungen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erklären</a:t>
            </a:r>
            <a:r>
              <a:rPr lang="en-US" dirty="0">
                <a:ea typeface="Calibri"/>
                <a:cs typeface="Calibri"/>
              </a:rPr>
              <a:t> die ich </a:t>
            </a:r>
            <a:r>
              <a:rPr lang="en-US" dirty="0" err="1">
                <a:ea typeface="Calibri"/>
                <a:cs typeface="Calibri"/>
              </a:rPr>
              <a:t>machen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Alle 6 </a:t>
            </a:r>
            <a:r>
              <a:rPr lang="en-US" dirty="0" err="1">
                <a:ea typeface="Calibri"/>
                <a:cs typeface="Calibri"/>
              </a:rPr>
              <a:t>anzeigen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gestaltung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hervorheben</a:t>
            </a: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Logo </a:t>
            </a:r>
            <a:r>
              <a:rPr lang="en-US" dirty="0" err="1">
                <a:ea typeface="Calibri"/>
                <a:cs typeface="Calibri"/>
              </a:rPr>
              <a:t>einbauen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wiedererkennungseffekt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F0D86-79F0-BC16-CB41-E3F01533E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01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E3228-3214-E556-95DC-08CDEFA9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3AA9B-E96D-B64C-5A4F-D5013F07E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A8354-753D-CCF3-A4DA-FF6186B7A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Feature Set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exakt</a:t>
            </a:r>
            <a:r>
              <a:rPr lang="en-US" dirty="0"/>
              <a:t> auf den </a:t>
            </a:r>
            <a:r>
              <a:rPr lang="en-US" dirty="0" err="1"/>
              <a:t>Lehrplan</a:t>
            </a:r>
            <a:r>
              <a:rPr lang="en-US" dirty="0"/>
              <a:t> </a:t>
            </a:r>
            <a:r>
              <a:rPr lang="en-US" dirty="0" err="1"/>
              <a:t>zugeschnitten</a:t>
            </a:r>
            <a:r>
              <a:rPr lang="en-US" dirty="0"/>
              <a:t>, </a:t>
            </a:r>
            <a:r>
              <a:rPr lang="en-US" dirty="0" err="1"/>
              <a:t>speziell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. Wir </a:t>
            </a:r>
            <a:r>
              <a:rPr lang="en-US" dirty="0" err="1"/>
              <a:t>decken</a:t>
            </a:r>
            <a:r>
              <a:rPr lang="en-US" dirty="0"/>
              <a:t> alle </a:t>
            </a:r>
            <a:r>
              <a:rPr lang="en-US" dirty="0" err="1"/>
              <a:t>wichtigen</a:t>
            </a:r>
            <a:r>
              <a:rPr lang="en-US" dirty="0"/>
              <a:t> </a:t>
            </a:r>
            <a:r>
              <a:rPr lang="en-US" dirty="0" err="1"/>
              <a:t>Kategorien</a:t>
            </a:r>
            <a:r>
              <a:rPr lang="en-US" dirty="0"/>
              <a:t> ab. Dazu </a:t>
            </a:r>
            <a:r>
              <a:rPr lang="en-US" dirty="0" err="1"/>
              <a:t>gehören</a:t>
            </a:r>
            <a:r>
              <a:rPr lang="en-US" dirty="0"/>
              <a:t> </a:t>
            </a:r>
            <a:r>
              <a:rPr lang="en-US" dirty="0" err="1"/>
              <a:t>visuelle</a:t>
            </a:r>
            <a:r>
              <a:rPr lang="en-US" dirty="0"/>
              <a:t> </a:t>
            </a: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Stammtöne</a:t>
            </a:r>
            <a:r>
              <a:rPr lang="en-US" dirty="0"/>
              <a:t>, </a:t>
            </a:r>
            <a:r>
              <a:rPr lang="en-US" dirty="0" err="1"/>
              <a:t>Tonleitern</a:t>
            </a:r>
            <a:r>
              <a:rPr lang="en-US" dirty="0"/>
              <a:t> und </a:t>
            </a:r>
            <a:r>
              <a:rPr lang="en-US" dirty="0" err="1"/>
              <a:t>Intervalle</a:t>
            </a:r>
            <a:r>
              <a:rPr lang="en-US" dirty="0"/>
              <a:t> </a:t>
            </a:r>
            <a:r>
              <a:rPr lang="en-US"/>
              <a:t>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A9469-3B68-96AF-F8CC-27015FCC9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22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5EB1B-956B-EC02-47CF-F5097AB3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B2F90-DB16-CDE7-05B8-88D2C9A75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83405-B1A1-CEFC-1888-E58FDB963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Feature Set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exakt</a:t>
            </a:r>
            <a:r>
              <a:rPr lang="en-US" dirty="0"/>
              <a:t> auf den </a:t>
            </a:r>
            <a:r>
              <a:rPr lang="en-US" dirty="0" err="1"/>
              <a:t>Lehrplan</a:t>
            </a:r>
            <a:r>
              <a:rPr lang="en-US" dirty="0"/>
              <a:t> </a:t>
            </a:r>
            <a:r>
              <a:rPr lang="en-US" dirty="0" err="1"/>
              <a:t>zugeschnitten</a:t>
            </a:r>
            <a:r>
              <a:rPr lang="en-US" dirty="0"/>
              <a:t>, </a:t>
            </a:r>
            <a:r>
              <a:rPr lang="en-US" dirty="0" err="1"/>
              <a:t>speziell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. Wir </a:t>
            </a:r>
            <a:r>
              <a:rPr lang="en-US" dirty="0" err="1"/>
              <a:t>decken</a:t>
            </a:r>
            <a:r>
              <a:rPr lang="en-US" dirty="0"/>
              <a:t> alle </a:t>
            </a:r>
            <a:r>
              <a:rPr lang="en-US" dirty="0" err="1"/>
              <a:t>wichtigen</a:t>
            </a:r>
            <a:r>
              <a:rPr lang="en-US" dirty="0"/>
              <a:t> </a:t>
            </a:r>
            <a:r>
              <a:rPr lang="en-US" dirty="0" err="1"/>
              <a:t>Kategorien</a:t>
            </a:r>
            <a:r>
              <a:rPr lang="en-US" dirty="0"/>
              <a:t> ab. Dazu </a:t>
            </a:r>
            <a:r>
              <a:rPr lang="en-US" dirty="0" err="1"/>
              <a:t>gehören</a:t>
            </a:r>
            <a:r>
              <a:rPr lang="en-US" dirty="0"/>
              <a:t> </a:t>
            </a:r>
            <a:r>
              <a:rPr lang="en-US" dirty="0" err="1"/>
              <a:t>visuelle</a:t>
            </a:r>
            <a:r>
              <a:rPr lang="en-US" dirty="0"/>
              <a:t> </a:t>
            </a: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Stammtöne</a:t>
            </a:r>
            <a:r>
              <a:rPr lang="en-US" dirty="0"/>
              <a:t>, </a:t>
            </a:r>
            <a:r>
              <a:rPr lang="en-US" dirty="0" err="1"/>
              <a:t>Tonleitern</a:t>
            </a:r>
            <a:r>
              <a:rPr lang="en-US" dirty="0"/>
              <a:t> und </a:t>
            </a:r>
            <a:r>
              <a:rPr lang="en-US" dirty="0" err="1"/>
              <a:t>Intervalle</a:t>
            </a:r>
            <a:r>
              <a:rPr lang="en-US" dirty="0"/>
              <a:t> 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AA656-E24D-94A3-AADE-6161B82A4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43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0229-B502-205C-BD7A-DD70B010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F36C6-53AE-03CA-3EBC-878642841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EE865-2DE0-135D-0274-434199231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Feature Set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exakt</a:t>
            </a:r>
            <a:r>
              <a:rPr lang="en-US" dirty="0"/>
              <a:t> auf den </a:t>
            </a:r>
            <a:r>
              <a:rPr lang="en-US" dirty="0" err="1"/>
              <a:t>Lehrplan</a:t>
            </a:r>
            <a:r>
              <a:rPr lang="en-US" dirty="0"/>
              <a:t> </a:t>
            </a:r>
            <a:r>
              <a:rPr lang="en-US" dirty="0" err="1"/>
              <a:t>zugeschnitten</a:t>
            </a:r>
            <a:r>
              <a:rPr lang="en-US" dirty="0"/>
              <a:t>, </a:t>
            </a:r>
            <a:r>
              <a:rPr lang="en-US" dirty="0" err="1"/>
              <a:t>speziell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. Wir </a:t>
            </a:r>
            <a:r>
              <a:rPr lang="en-US" dirty="0" err="1"/>
              <a:t>decken</a:t>
            </a:r>
            <a:r>
              <a:rPr lang="en-US" dirty="0"/>
              <a:t> alle </a:t>
            </a:r>
            <a:r>
              <a:rPr lang="en-US" dirty="0" err="1"/>
              <a:t>wichtigen</a:t>
            </a:r>
            <a:r>
              <a:rPr lang="en-US" dirty="0"/>
              <a:t> </a:t>
            </a:r>
            <a:r>
              <a:rPr lang="en-US" dirty="0" err="1"/>
              <a:t>Kategorien</a:t>
            </a:r>
            <a:r>
              <a:rPr lang="en-US" dirty="0"/>
              <a:t> ab. Dazu </a:t>
            </a:r>
            <a:r>
              <a:rPr lang="en-US" dirty="0" err="1"/>
              <a:t>gehören</a:t>
            </a:r>
            <a:r>
              <a:rPr lang="en-US" dirty="0"/>
              <a:t> </a:t>
            </a:r>
            <a:r>
              <a:rPr lang="en-US" dirty="0" err="1"/>
              <a:t>visuelle</a:t>
            </a:r>
            <a:r>
              <a:rPr lang="en-US" dirty="0"/>
              <a:t> </a:t>
            </a: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Stammtöne</a:t>
            </a:r>
            <a:r>
              <a:rPr lang="en-US" dirty="0"/>
              <a:t>, </a:t>
            </a:r>
            <a:r>
              <a:rPr lang="en-US" dirty="0" err="1"/>
              <a:t>Tonleitern</a:t>
            </a:r>
            <a:r>
              <a:rPr lang="en-US" dirty="0"/>
              <a:t> und </a:t>
            </a:r>
            <a:r>
              <a:rPr lang="en-US" dirty="0" err="1"/>
              <a:t>Intervalle</a:t>
            </a:r>
            <a:r>
              <a:rPr lang="en-US" dirty="0"/>
              <a:t> 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45C56-08FD-EED9-4768-CB3C64062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78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D5A4-554B-4415-940C-10234D4F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23F8E-7562-7B6D-9CFE-92798D4AA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83F0E-B352-3921-37FA-6B8D1778D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Feature Set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exakt</a:t>
            </a:r>
            <a:r>
              <a:rPr lang="en-US" dirty="0"/>
              <a:t> auf den </a:t>
            </a:r>
            <a:r>
              <a:rPr lang="en-US" dirty="0" err="1"/>
              <a:t>Lehrplan</a:t>
            </a:r>
            <a:r>
              <a:rPr lang="en-US" dirty="0"/>
              <a:t> </a:t>
            </a:r>
            <a:r>
              <a:rPr lang="en-US" dirty="0" err="1"/>
              <a:t>zugeschnitten</a:t>
            </a:r>
            <a:r>
              <a:rPr lang="en-US" dirty="0"/>
              <a:t>, </a:t>
            </a:r>
            <a:r>
              <a:rPr lang="en-US" dirty="0" err="1"/>
              <a:t>speziell</a:t>
            </a:r>
            <a:r>
              <a:rPr lang="en-US" dirty="0"/>
              <a:t> für die Bronze </a:t>
            </a:r>
            <a:r>
              <a:rPr lang="en-US" dirty="0" err="1"/>
              <a:t>Übertrittsprüfung</a:t>
            </a:r>
            <a:r>
              <a:rPr lang="en-US" dirty="0"/>
              <a:t>. Wir </a:t>
            </a:r>
            <a:r>
              <a:rPr lang="en-US" dirty="0" err="1"/>
              <a:t>decken</a:t>
            </a:r>
            <a:r>
              <a:rPr lang="en-US" dirty="0"/>
              <a:t> alle </a:t>
            </a:r>
            <a:r>
              <a:rPr lang="en-US" dirty="0" err="1"/>
              <a:t>wichtigen</a:t>
            </a:r>
            <a:r>
              <a:rPr lang="en-US" dirty="0"/>
              <a:t> </a:t>
            </a:r>
            <a:r>
              <a:rPr lang="en-US" dirty="0" err="1"/>
              <a:t>Kategorien</a:t>
            </a:r>
            <a:r>
              <a:rPr lang="en-US" dirty="0"/>
              <a:t> ab. Dazu </a:t>
            </a:r>
            <a:r>
              <a:rPr lang="en-US" dirty="0" err="1"/>
              <a:t>gehören</a:t>
            </a:r>
            <a:r>
              <a:rPr lang="en-US" dirty="0"/>
              <a:t> </a:t>
            </a:r>
            <a:r>
              <a:rPr lang="en-US" dirty="0" err="1"/>
              <a:t>visuelle</a:t>
            </a:r>
            <a:r>
              <a:rPr lang="en-US" dirty="0"/>
              <a:t> </a:t>
            </a: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Stammtöne</a:t>
            </a:r>
            <a:r>
              <a:rPr lang="en-US" dirty="0"/>
              <a:t>, </a:t>
            </a:r>
            <a:r>
              <a:rPr lang="en-US" dirty="0" err="1"/>
              <a:t>Tonleitern</a:t>
            </a:r>
            <a:r>
              <a:rPr lang="en-US" dirty="0"/>
              <a:t> und </a:t>
            </a:r>
            <a:r>
              <a:rPr lang="en-US" dirty="0" err="1"/>
              <a:t>Intervalle</a:t>
            </a:r>
            <a:r>
              <a:rPr lang="en-US" dirty="0"/>
              <a:t> 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AE0DC-63BC-C384-4011-6453F7E6F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04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</a:t>
            </a:r>
            <a:r>
              <a:rPr lang="en-US" err="1"/>
              <a:t>stellen</a:t>
            </a:r>
            <a:r>
              <a:rPr lang="en-US" dirty="0"/>
              <a:t> </a:t>
            </a:r>
            <a:r>
              <a:rPr lang="en-US"/>
              <a:t>euch</a:t>
            </a:r>
            <a:r>
              <a:rPr lang="en-US" dirty="0"/>
              <a:t> </a:t>
            </a:r>
            <a:r>
              <a:rPr lang="en-US" err="1"/>
              <a:t>jetzt</a:t>
            </a:r>
            <a:r>
              <a:rPr lang="en-US" dirty="0"/>
              <a:t> </a:t>
            </a:r>
            <a:r>
              <a:rPr lang="en-US" err="1"/>
              <a:t>kurz</a:t>
            </a:r>
            <a:r>
              <a:rPr lang="en-US" dirty="0"/>
              <a:t> </a:t>
            </a:r>
            <a:r>
              <a:rPr lang="en-US" err="1"/>
              <a:t>drei</a:t>
            </a:r>
            <a:r>
              <a:rPr lang="en-US" dirty="0"/>
              <a:t> </a:t>
            </a:r>
            <a:r>
              <a:rPr lang="en-US" err="1"/>
              <a:t>unserer</a:t>
            </a:r>
            <a:r>
              <a:rPr lang="en-US" dirty="0"/>
              <a:t> </a:t>
            </a:r>
            <a:r>
              <a:rPr lang="en-US" err="1"/>
              <a:t>Übungstypen</a:t>
            </a:r>
            <a:r>
              <a:rPr lang="en-US" dirty="0"/>
              <a:t> </a:t>
            </a:r>
            <a:r>
              <a:rPr lang="en-US" err="1"/>
              <a:t>vor</a:t>
            </a:r>
            <a:r>
              <a:rPr lang="en-US" dirty="0"/>
              <a:t>: </a:t>
            </a:r>
            <a:r>
              <a:rPr lang="en-US" err="1"/>
              <a:t>Intervalle</a:t>
            </a:r>
            <a:r>
              <a:rPr lang="en-US" dirty="0"/>
              <a:t> </a:t>
            </a:r>
            <a:r>
              <a:rPr lang="en-US" err="1"/>
              <a:t>schreiben</a:t>
            </a:r>
            <a:r>
              <a:rPr lang="en-US" dirty="0"/>
              <a:t>, </a:t>
            </a:r>
            <a:r>
              <a:rPr lang="en-US" err="1"/>
              <a:t>Tonleitern</a:t>
            </a:r>
            <a:r>
              <a:rPr lang="en-US" dirty="0"/>
              <a:t> </a:t>
            </a:r>
            <a:r>
              <a:rPr lang="en-US" err="1"/>
              <a:t>lesen</a:t>
            </a:r>
            <a:r>
              <a:rPr lang="en-US" dirty="0"/>
              <a:t> + </a:t>
            </a:r>
            <a:r>
              <a:rPr lang="en-US" err="1"/>
              <a:t>Stammtöne</a:t>
            </a:r>
            <a:r>
              <a:rPr lang="en-US" dirty="0"/>
              <a:t> Klavier </a:t>
            </a:r>
            <a:r>
              <a:rPr lang="en-US" err="1"/>
              <a:t>Übung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26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Frontend → </a:t>
            </a:r>
            <a:r>
              <a:rPr lang="en-US" dirty="0" err="1"/>
              <a:t>Zugriff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den </a:t>
            </a:r>
            <a:r>
              <a:rPr lang="en-US" dirty="0" err="1"/>
              <a:t>Nutzer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Browser</a:t>
            </a:r>
            <a:endParaRPr lang="de-DE" dirty="0"/>
          </a:p>
          <a:p>
            <a:r>
              <a:rPr lang="en-US" dirty="0" err="1"/>
              <a:t>Kommunikation</a:t>
            </a:r>
            <a:r>
              <a:rPr lang="en-US" dirty="0"/>
              <a:t> →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b="1" dirty="0"/>
              <a:t>HTTPS/REST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</a:t>
            </a:r>
            <a:r>
              <a:rPr lang="en-US" b="1" dirty="0"/>
              <a:t>.NET Core Backend</a:t>
            </a:r>
            <a:endParaRPr lang="de-DE" dirty="0"/>
          </a:p>
          <a:p>
            <a:r>
              <a:rPr lang="en-US" dirty="0"/>
              <a:t>.NET Core Backend → </a:t>
            </a:r>
            <a:r>
              <a:rPr lang="en-US" b="1" dirty="0" err="1"/>
              <a:t>Benutzerverwaltung</a:t>
            </a:r>
            <a:r>
              <a:rPr lang="en-US" b="1" dirty="0"/>
              <a:t> und </a:t>
            </a:r>
            <a:r>
              <a:rPr lang="en-US" b="1" dirty="0" err="1"/>
              <a:t>Übungs</a:t>
            </a:r>
            <a:r>
              <a:rPr lang="en-US" b="1" dirty="0"/>
              <a:t>-Importer</a:t>
            </a:r>
            <a:endParaRPr lang="de-DE" dirty="0"/>
          </a:p>
          <a:p>
            <a:r>
              <a:rPr lang="en-US" dirty="0" err="1"/>
              <a:t>Datenbank</a:t>
            </a:r>
            <a:r>
              <a:rPr lang="en-US" dirty="0"/>
              <a:t> → </a:t>
            </a:r>
            <a:r>
              <a:rPr lang="en-US" b="1" dirty="0"/>
              <a:t>SQLite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Speicherung</a:t>
            </a:r>
            <a:r>
              <a:rPr lang="en-US" dirty="0"/>
              <a:t> der </a:t>
            </a:r>
            <a:r>
              <a:rPr lang="en-US" dirty="0" err="1"/>
              <a:t>Daten</a:t>
            </a:r>
            <a:endParaRPr lang="de-DE" dirty="0" err="1"/>
          </a:p>
          <a:p>
            <a:r>
              <a:rPr lang="en-US" dirty="0" err="1"/>
              <a:t>Adminer</a:t>
            </a:r>
            <a:r>
              <a:rPr lang="en-US" dirty="0"/>
              <a:t> Container → </a:t>
            </a:r>
            <a:r>
              <a:rPr lang="en-US" b="1" dirty="0"/>
              <a:t>Verwaltung der </a:t>
            </a:r>
            <a:r>
              <a:rPr lang="en-US" b="1" dirty="0" err="1"/>
              <a:t>Datenbank</a:t>
            </a:r>
            <a:r>
              <a:rPr lang="en-US" b="1" dirty="0"/>
              <a:t> </a:t>
            </a:r>
            <a:r>
              <a:rPr lang="en-US" b="1" dirty="0" err="1"/>
              <a:t>durch</a:t>
            </a:r>
            <a:r>
              <a:rPr lang="en-US" b="1" dirty="0"/>
              <a:t> Admin</a:t>
            </a:r>
            <a:endParaRPr lang="de-DE" dirty="0"/>
          </a:p>
          <a:p>
            <a:r>
              <a:rPr lang="en-US" dirty="0"/>
              <a:t>Deployment → </a:t>
            </a:r>
            <a:r>
              <a:rPr lang="en-US" b="1" dirty="0" err="1"/>
              <a:t>Automatisch</a:t>
            </a:r>
            <a:r>
              <a:rPr lang="en-US" b="1" dirty="0"/>
              <a:t> </a:t>
            </a:r>
            <a:r>
              <a:rPr lang="en-US" b="1" dirty="0" err="1"/>
              <a:t>über</a:t>
            </a:r>
            <a:r>
              <a:rPr lang="en-US" b="1" dirty="0"/>
              <a:t> GitHub Actions auf </a:t>
            </a:r>
            <a:r>
              <a:rPr lang="en-US" b="1" dirty="0" err="1"/>
              <a:t>Leocloud</a:t>
            </a:r>
            <a:r>
              <a:rPr lang="en-US" b="1" dirty="0"/>
              <a:t> Kubernetes</a:t>
            </a:r>
            <a:endParaRPr lang="de-DE" dirty="0"/>
          </a:p>
          <a:p>
            <a:r>
              <a:rPr lang="en-US" dirty="0"/>
              <a:t>Persistent Volume → </a:t>
            </a:r>
            <a:r>
              <a:rPr lang="en-US" b="1" dirty="0"/>
              <a:t>Speichert die </a:t>
            </a:r>
            <a:r>
              <a:rPr lang="en-US" b="1" dirty="0" err="1"/>
              <a:t>Daten</a:t>
            </a:r>
            <a:r>
              <a:rPr lang="en-US" b="1" dirty="0"/>
              <a:t> </a:t>
            </a:r>
            <a:r>
              <a:rPr lang="en-US" b="1" dirty="0" err="1"/>
              <a:t>dauerhaft</a:t>
            </a:r>
            <a:endParaRPr lang="de-DE" dirty="0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rPr lang="de-DE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4062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B2B – </a:t>
            </a:r>
            <a:r>
              <a:rPr lang="en-US" dirty="0" err="1">
                <a:ea typeface="Calibri"/>
                <a:cs typeface="Calibri"/>
              </a:rPr>
              <a:t>Lizenz</a:t>
            </a:r>
            <a:r>
              <a:rPr lang="en-US" dirty="0">
                <a:ea typeface="Calibri"/>
                <a:cs typeface="Calibri"/>
              </a:rPr>
              <a:t> dem </a:t>
            </a:r>
            <a:r>
              <a:rPr lang="en-US" dirty="0" err="1">
                <a:ea typeface="Calibri"/>
                <a:cs typeface="Calibri"/>
              </a:rPr>
              <a:t>Bundesland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verkaufen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ans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tatt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jeder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Musikschule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rPr lang="de-DE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8571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94D93-2F44-4CF9-95AB-F105AD5DA5D8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7010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D083E-36F9-4E21-2A35-51450604C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35A6D7-97A6-8148-2744-B95C63DE9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FEF851-595F-E19A-B7BE-793438C9C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F707E6-729A-C416-6DA1-B961333A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7B878-012B-83C0-6B77-33E6FA6B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280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ACA66-B5FD-C7E5-9341-22D5F7B1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F883D9-7F79-CB31-68BF-A5E11F193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48C55E-710F-D1E0-E0BC-6B2FE5E3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360FA0-84ED-07DB-C0A4-0CC00807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DB35E4-96DC-3596-B9FE-BA2CA15A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5065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513E5-A0DA-F781-67D7-486526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3CDA06-6147-29BE-E830-2E4DAE6D4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62B6EB-03A5-DC1E-C35C-940D1835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38CCAD-5429-2A48-D788-4FD503A5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F24D79-6C20-CED2-18E4-7F77EBAD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9294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4F9FFE-BA4B-492C-21A9-5926BA65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03D631-AB59-7D04-92BB-0437DDB7D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162C8F-0494-F864-FF3E-9D028CB42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F7F324-3574-3A37-1EBD-853DE865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4E3C1A-E776-6157-2B5B-3B66EFA0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E3EFE8-F56D-ECC3-62E2-EA220F10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24430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33F05-1D71-E797-27A9-1ABEFB8B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B3030F-E5B2-40CA-22AC-5E7C9C7B6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99BD16D-0119-D55A-BE68-9AEEB66E2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D7FAA7-BC8B-A127-D667-F7321C25F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3F7F8F-B9DE-FFEF-7D54-6BD81E87D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AE334FC-7EBB-1353-AE5D-E1BD5C05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415D624-EC57-4A04-2AD1-E8C35C9D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B06A13A-1D89-C2B4-5D6E-5625D9E9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5168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50727-B1E0-D285-D5A7-E240259E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DB12298-21BB-0FFD-547B-BC6BC3E2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F30C9A-94C0-9DF7-30CE-69328DE5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17E497-FDCC-F504-713A-65D46926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2219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248FBA-17D7-EA34-6B14-9D80AEA6E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E8E852-080E-5143-430C-5C85ED46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E547FE-616E-F307-FF2E-1B2E900F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5935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02628-BE5A-0062-751E-965BA8BE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FED86C-99AB-FB3A-94D7-9CE05E0A8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88E137-5D2A-44D8-9895-ED41D256B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D10C4F-9BDF-07BE-21A6-AFD35898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13C85E-680D-F12F-81BD-C6F066841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9EE3D9-73A5-8BB7-6C17-3AC15700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2984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1ABC4-4A4B-BEFB-5896-AD99F28C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40B4047-062F-B5F1-DFE2-C971E7B52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68766E-D504-3CE3-A96A-DB9AADE1A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56E336-993D-AA09-2E0F-2FCFF246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102301-3B3A-4AE6-6BC7-A3C4671DB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12C5DA-DA60-F251-6DFE-37A3AB28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123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AB91E-46DD-40A6-AB35-1EB69B43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C2BC5A-2DF9-C056-D48D-406BAE42B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ACCF7A-7B1C-F452-C1EB-8ACBCE19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4B77C6-299A-CE0A-9A59-FA50E680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58DCBD-3792-4916-3D26-4B33C5EA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1745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FDE6493-70E3-170A-2176-33C98020B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DD649A-F6EF-2897-3A3C-6605BBAA6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FD611A-BF27-DD50-3C5F-E5C3ACE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8C13C8-2861-9AA2-2BEA-9350FD94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11668F-3271-7D18-D76C-A5D5D3DB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394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990F03-C13B-0946-1DDB-6CE535C9C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8C68FF-1623-C2B9-2E36-9A26D73DA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CCB696-9DE1-BD7A-6C08-C700A22B6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A67D0-F386-4BD8-A536-90CA5B85832D}" type="datetimeFigureOut">
              <a:rPr lang="de-AT" smtClean="0"/>
              <a:t>09.03.2026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5AE31E-7CFC-F7A0-2F1D-EFE421903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B4CBA2-AE67-1274-BD59-1F1F3A92A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43CFD-A291-4302-AD14-72E92BF2158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552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854E33-DA22-8DA6-4A5B-2AC8AA521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pPr algn="l"/>
            <a:r>
              <a:rPr lang="de-AT" err="1"/>
              <a:t>Simtune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96A253-BCB9-50C4-5593-9DFAD9F4E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369" y="4630738"/>
            <a:ext cx="5617794" cy="1150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AT"/>
              <a:t>Smarter üben - Sicher bestehen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A2B6B69E-1601-72F5-E410-43C19C1A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519"/>
          <a:stretch>
            <a:fillRect/>
          </a:stretch>
        </p:blipFill>
        <p:spPr>
          <a:xfrm>
            <a:off x="-1507" y="10"/>
            <a:ext cx="5205951" cy="6857990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B7B90D9-1EC2-4A12-B24A-342C1BCA2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9072" y="0"/>
            <a:ext cx="2845372" cy="6858000"/>
          </a:xfrm>
          <a:custGeom>
            <a:avLst/>
            <a:gdLst>
              <a:gd name="connsiteX0" fmla="*/ 939908 w 2845372"/>
              <a:gd name="connsiteY0" fmla="*/ 0 h 6858000"/>
              <a:gd name="connsiteX1" fmla="*/ 1222349 w 2845372"/>
              <a:gd name="connsiteY1" fmla="*/ 0 h 6858000"/>
              <a:gd name="connsiteX2" fmla="*/ 1244473 w 2845372"/>
              <a:gd name="connsiteY2" fmla="*/ 14997 h 6858000"/>
              <a:gd name="connsiteX3" fmla="*/ 2845372 w 2845372"/>
              <a:gd name="connsiteY3" fmla="*/ 3621656 h 6858000"/>
              <a:gd name="connsiteX4" fmla="*/ 971022 w 2845372"/>
              <a:gd name="connsiteY4" fmla="*/ 6374814 h 6858000"/>
              <a:gd name="connsiteX5" fmla="*/ 454374 w 2845372"/>
              <a:gd name="connsiteY5" fmla="*/ 6780599 h 6858000"/>
              <a:gd name="connsiteX6" fmla="*/ 342618 w 2845372"/>
              <a:gd name="connsiteY6" fmla="*/ 6858000 h 6858000"/>
              <a:gd name="connsiteX7" fmla="*/ 129116 w 2845372"/>
              <a:gd name="connsiteY7" fmla="*/ 6858000 h 6858000"/>
              <a:gd name="connsiteX8" fmla="*/ 0 w 2845372"/>
              <a:gd name="connsiteY8" fmla="*/ 6858000 h 6858000"/>
              <a:gd name="connsiteX9" fmla="*/ 119401 w 2845372"/>
              <a:gd name="connsiteY9" fmla="*/ 6780599 h 6858000"/>
              <a:gd name="connsiteX10" fmla="*/ 671389 w 2845372"/>
              <a:gd name="connsiteY10" fmla="*/ 6374814 h 6858000"/>
              <a:gd name="connsiteX11" fmla="*/ 2673952 w 2845372"/>
              <a:gd name="connsiteY11" fmla="*/ 3621656 h 6858000"/>
              <a:gd name="connsiteX12" fmla="*/ 963545 w 2845372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45372" h="6858000">
                <a:moveTo>
                  <a:pt x="939908" y="0"/>
                </a:moveTo>
                <a:lnTo>
                  <a:pt x="1222349" y="0"/>
                </a:lnTo>
                <a:lnTo>
                  <a:pt x="1244473" y="14997"/>
                </a:lnTo>
                <a:cubicBezTo>
                  <a:pt x="2271636" y="754641"/>
                  <a:pt x="2845372" y="2093192"/>
                  <a:pt x="2845372" y="3621656"/>
                </a:cubicBezTo>
                <a:cubicBezTo>
                  <a:pt x="2845372" y="4969131"/>
                  <a:pt x="1916647" y="5602839"/>
                  <a:pt x="971022" y="6374814"/>
                </a:cubicBezTo>
                <a:cubicBezTo>
                  <a:pt x="798819" y="6515397"/>
                  <a:pt x="628192" y="6653108"/>
                  <a:pt x="454374" y="6780599"/>
                </a:cubicBezTo>
                <a:lnTo>
                  <a:pt x="342618" y="6858000"/>
                </a:lnTo>
                <a:lnTo>
                  <a:pt x="129116" y="6858000"/>
                </a:lnTo>
                <a:lnTo>
                  <a:pt x="0" y="6858000"/>
                </a:lnTo>
                <a:lnTo>
                  <a:pt x="119401" y="6780599"/>
                </a:lnTo>
                <a:cubicBezTo>
                  <a:pt x="305108" y="6653108"/>
                  <a:pt x="487407" y="6515397"/>
                  <a:pt x="671389" y="6374814"/>
                </a:cubicBezTo>
                <a:cubicBezTo>
                  <a:pt x="1681699" y="5602839"/>
                  <a:pt x="2673952" y="4969131"/>
                  <a:pt x="2673952" y="3621656"/>
                </a:cubicBezTo>
                <a:cubicBezTo>
                  <a:pt x="2673952" y="2093192"/>
                  <a:pt x="2060970" y="754641"/>
                  <a:pt x="96354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DDF0A4D-5835-ECAD-17AF-82101310EBAD}"/>
              </a:ext>
            </a:extLst>
          </p:cNvPr>
          <p:cNvSpPr/>
          <p:nvPr/>
        </p:nvSpPr>
        <p:spPr>
          <a:xfrm>
            <a:off x="-1224931" y="20070234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de-DE" sz="3200" dirty="0"/>
              <a:t>Junior (freiwillig)</a:t>
            </a:r>
          </a:p>
          <a:p>
            <a:pPr lvl="1" algn="ctr"/>
            <a:r>
              <a:rPr lang="de-DE" sz="1600" dirty="0"/>
              <a:t>Elementarstufe: Unterstufe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027E491-35E4-AFC5-4EAE-0D62B3652887}"/>
              </a:ext>
            </a:extLst>
          </p:cNvPr>
          <p:cNvSpPr/>
          <p:nvPr/>
        </p:nvSpPr>
        <p:spPr>
          <a:xfrm>
            <a:off x="821493" y="16922222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de-DE" sz="3200" dirty="0"/>
              <a:t>Bronze</a:t>
            </a:r>
          </a:p>
          <a:p>
            <a:pPr lvl="1" algn="ctr"/>
            <a:r>
              <a:rPr lang="de-DE" sz="1600" dirty="0"/>
              <a:t>Elementarstufe: Mittelstufe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588424-A99C-0941-5204-DC8EDC8D6EAC}"/>
              </a:ext>
            </a:extLst>
          </p:cNvPr>
          <p:cNvSpPr/>
          <p:nvPr/>
        </p:nvSpPr>
        <p:spPr>
          <a:xfrm>
            <a:off x="2428245" y="12328032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de-DE" sz="3200" dirty="0"/>
              <a:t>Silber</a:t>
            </a:r>
          </a:p>
          <a:p>
            <a:pPr lvl="1" algn="ctr"/>
            <a:r>
              <a:rPr lang="de-DE" sz="1600" dirty="0"/>
              <a:t>Elementarstufe: Oberstufe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4617EB9-8913-0649-1D2A-BC1FB03275E6}"/>
              </a:ext>
            </a:extLst>
          </p:cNvPr>
          <p:cNvSpPr/>
          <p:nvPr/>
        </p:nvSpPr>
        <p:spPr>
          <a:xfrm>
            <a:off x="3547969" y="7721434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	Gold</a:t>
            </a:r>
          </a:p>
          <a:p>
            <a:pPr algn="ctr"/>
            <a:r>
              <a:rPr lang="de-DE" sz="1600" dirty="0"/>
              <a:t>	Elementarstufe: </a:t>
            </a:r>
            <a:r>
              <a:rPr lang="en-US" sz="1600" dirty="0"/>
              <a:t>Abschlussprüfung AUDIT OF ART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9C58578-3F25-9619-D50C-84C57A7AC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93" y="16922222"/>
            <a:ext cx="803636" cy="1080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BC0207C-287D-EDEC-6687-C73DC0D15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245" y="12328032"/>
            <a:ext cx="786443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3146F83-CBC7-FF06-2293-66EFAC145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969" y="7721434"/>
            <a:ext cx="829014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BCECD4F-B0D1-4BCA-0A6B-62EEA985C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24931" y="20070234"/>
            <a:ext cx="77777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0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EB66-0D98-2D66-F28B-96B10E02E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C4A5-2839-D29D-23AC-2950A7E6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45"/>
            <a:ext cx="10515600" cy="1325563"/>
          </a:xfrm>
        </p:spPr>
        <p:txBody>
          <a:bodyPr/>
          <a:lstStyle/>
          <a:p>
            <a:r>
              <a:rPr lang="en-US" dirty="0" err="1"/>
              <a:t>Ausbildungsweg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Musikschulwerk</a:t>
            </a:r>
            <a:endParaRPr lang="en-US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C396B72-3163-5C66-FBAC-9BDF0504B444}"/>
              </a:ext>
            </a:extLst>
          </p:cNvPr>
          <p:cNvSpPr/>
          <p:nvPr/>
        </p:nvSpPr>
        <p:spPr>
          <a:xfrm>
            <a:off x="545935" y="5629277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de-DE" sz="3200" dirty="0"/>
              <a:t>Junior (freiwillig)</a:t>
            </a:r>
          </a:p>
          <a:p>
            <a:pPr lvl="1" algn="ctr"/>
            <a:r>
              <a:rPr lang="de-DE" sz="1600" dirty="0"/>
              <a:t>Elementarstufe: Unterstufe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E981E3B-DB9C-A044-A5E1-71423738C221}"/>
              </a:ext>
            </a:extLst>
          </p:cNvPr>
          <p:cNvSpPr/>
          <p:nvPr/>
        </p:nvSpPr>
        <p:spPr>
          <a:xfrm>
            <a:off x="1786528" y="4081465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de-DE" sz="3200" dirty="0"/>
              <a:t>Bronze</a:t>
            </a:r>
          </a:p>
          <a:p>
            <a:pPr lvl="1" algn="ctr"/>
            <a:r>
              <a:rPr lang="de-DE" sz="1600" dirty="0"/>
              <a:t>Elementarstufe: Mittelstufe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5D42423-F729-16AF-6ACD-514518897028}"/>
              </a:ext>
            </a:extLst>
          </p:cNvPr>
          <p:cNvSpPr/>
          <p:nvPr/>
        </p:nvSpPr>
        <p:spPr>
          <a:xfrm>
            <a:off x="2974180" y="2847978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de-DE" sz="3200" dirty="0"/>
              <a:t>Silber</a:t>
            </a:r>
          </a:p>
          <a:p>
            <a:pPr lvl="1" algn="ctr"/>
            <a:r>
              <a:rPr lang="de-DE" sz="1600" dirty="0"/>
              <a:t>Elementarstufe: Oberstufe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491D27C-F791-6684-94F0-48DFF6C73928}"/>
              </a:ext>
            </a:extLst>
          </p:cNvPr>
          <p:cNvSpPr/>
          <p:nvPr/>
        </p:nvSpPr>
        <p:spPr>
          <a:xfrm>
            <a:off x="4095411" y="1632280"/>
            <a:ext cx="6429375" cy="1067592"/>
          </a:xfrm>
          <a:prstGeom prst="rect">
            <a:avLst/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	Gold</a:t>
            </a:r>
          </a:p>
          <a:p>
            <a:pPr algn="ctr"/>
            <a:r>
              <a:rPr lang="de-DE" sz="1600" dirty="0"/>
              <a:t>	Elementarstufe: </a:t>
            </a:r>
            <a:r>
              <a:rPr lang="en-US" sz="1600" dirty="0"/>
              <a:t>Abschlussprüfung AUDIT OF ART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EF47CBB-9269-51CB-8560-66C1441D0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528" y="4081465"/>
            <a:ext cx="803636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118041AA-D49B-7973-94C3-E9C6E9320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180" y="2847978"/>
            <a:ext cx="786443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D9376CA1-702A-16B4-4919-F918B7675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411" y="1632280"/>
            <a:ext cx="829014" cy="1080000"/>
          </a:xfrm>
          <a:prstGeom prst="rect">
            <a:avLst/>
          </a:prstGeom>
        </p:spPr>
      </p:pic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8D26A561-51BE-27BD-C8C8-33D1F90BA81D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975310" y="5149057"/>
            <a:ext cx="582778" cy="101401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erbinder: gewinkelt 35">
            <a:extLst>
              <a:ext uri="{FF2B5EF4-FFF2-40B4-BE49-F238E27FC236}">
                <a16:creationId xmlns:a16="http://schemas.microsoft.com/office/drawing/2014/main" id="{2B6FB9D7-7F0F-25FA-6637-980870A2A8CC}"/>
              </a:ext>
            </a:extLst>
          </p:cNvPr>
          <p:cNvCxnSpPr/>
          <p:nvPr/>
        </p:nvCxnSpPr>
        <p:spPr>
          <a:xfrm flipV="1">
            <a:off x="8215903" y="3915570"/>
            <a:ext cx="585789" cy="6996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12C06E50-CF2F-AD61-BFA7-F1C59E7FA71F}"/>
              </a:ext>
            </a:extLst>
          </p:cNvPr>
          <p:cNvCxnSpPr/>
          <p:nvPr/>
        </p:nvCxnSpPr>
        <p:spPr>
          <a:xfrm flipV="1">
            <a:off x="9403555" y="2699872"/>
            <a:ext cx="585789" cy="6996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fik 38">
            <a:extLst>
              <a:ext uri="{FF2B5EF4-FFF2-40B4-BE49-F238E27FC236}">
                <a16:creationId xmlns:a16="http://schemas.microsoft.com/office/drawing/2014/main" id="{3030A916-02A0-584D-DC39-5242D9C45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935" y="5629277"/>
            <a:ext cx="777778" cy="1080000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31E7BC1C-1D80-F455-3FF4-0E3CD458ECF2}"/>
              </a:ext>
            </a:extLst>
          </p:cNvPr>
          <p:cNvSpPr/>
          <p:nvPr/>
        </p:nvSpPr>
        <p:spPr>
          <a:xfrm>
            <a:off x="928688" y="1262743"/>
            <a:ext cx="11037093" cy="42093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07A63993-B481-1FC0-6F97-7717B516883D}"/>
              </a:ext>
            </a:extLst>
          </p:cNvPr>
          <p:cNvSpPr txBox="1"/>
          <p:nvPr/>
        </p:nvSpPr>
        <p:spPr>
          <a:xfrm>
            <a:off x="928688" y="1281719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 err="1"/>
              <a:t>Musikkunde</a:t>
            </a:r>
            <a:r>
              <a:rPr lang="en-US" sz="1800" b="1" u="sng" dirty="0"/>
              <a:t> </a:t>
            </a:r>
            <a:r>
              <a:rPr lang="en-US" sz="1800" b="1" u="sng" dirty="0" err="1"/>
              <a:t>Prüfung</a:t>
            </a:r>
            <a:r>
              <a:rPr lang="en-US" sz="1800" b="1" u="sng" dirty="0"/>
              <a:t> &amp; </a:t>
            </a:r>
            <a:r>
              <a:rPr lang="en-US" sz="1800" b="1" u="sng" dirty="0" err="1"/>
              <a:t>Vorspielen</a:t>
            </a:r>
            <a:r>
              <a:rPr lang="en-US" sz="1800" b="1" u="sng" dirty="0"/>
              <a:t> </a:t>
            </a:r>
            <a:r>
              <a:rPr lang="en-US" sz="1800" b="1" u="sng" dirty="0" err="1"/>
              <a:t>verpflichtend</a:t>
            </a:r>
            <a:r>
              <a:rPr lang="en-US" sz="1800" b="1" u="sng" dirty="0"/>
              <a:t>!</a:t>
            </a:r>
          </a:p>
        </p:txBody>
      </p:sp>
      <p:pic>
        <p:nvPicPr>
          <p:cNvPr id="49" name="Picture 6" descr="Smartphone PNGs zum kostenlosen Download">
            <a:extLst>
              <a:ext uri="{FF2B5EF4-FFF2-40B4-BE49-F238E27FC236}">
                <a16:creationId xmlns:a16="http://schemas.microsoft.com/office/drawing/2014/main" id="{420EE999-0CEE-A742-D5D1-F2D2C23E8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415" y="20505320"/>
            <a:ext cx="794317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16EDAFC7-4B26-084E-22E2-E0FB1F4168A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" b="2519"/>
          <a:stretch>
            <a:fillRect/>
          </a:stretch>
        </p:blipFill>
        <p:spPr>
          <a:xfrm>
            <a:off x="5451176" y="21201718"/>
            <a:ext cx="1223821" cy="1612184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17CA4767-6C94-9DB1-F1DE-2290F186689E}"/>
              </a:ext>
            </a:extLst>
          </p:cNvPr>
          <p:cNvSpPr txBox="1"/>
          <p:nvPr/>
        </p:nvSpPr>
        <p:spPr>
          <a:xfrm>
            <a:off x="5186783" y="22865412"/>
            <a:ext cx="218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 err="1"/>
              <a:t>SimTune</a:t>
            </a:r>
            <a:endParaRPr lang="de-DE" sz="3200" b="1" dirty="0"/>
          </a:p>
        </p:txBody>
      </p:sp>
      <p:sp>
        <p:nvSpPr>
          <p:cNvPr id="52" name="Sprechblase: rechteckig 51">
            <a:extLst>
              <a:ext uri="{FF2B5EF4-FFF2-40B4-BE49-F238E27FC236}">
                <a16:creationId xmlns:a16="http://schemas.microsoft.com/office/drawing/2014/main" id="{FEFDFBE4-9EE7-C611-5190-5D0740A72805}"/>
              </a:ext>
            </a:extLst>
          </p:cNvPr>
          <p:cNvSpPr/>
          <p:nvPr/>
        </p:nvSpPr>
        <p:spPr>
          <a:xfrm>
            <a:off x="-6581990" y="1733188"/>
            <a:ext cx="4325288" cy="1074057"/>
          </a:xfrm>
          <a:prstGeom prst="wedgeRectCallout">
            <a:avLst>
              <a:gd name="adj1" fmla="val 38449"/>
              <a:gd name="adj2" fmla="val 90942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Prüfungssituationen</a:t>
            </a:r>
            <a:r>
              <a:rPr lang="de-DE" sz="2000" b="1" dirty="0"/>
              <a:t> </a:t>
            </a:r>
          </a:p>
          <a:p>
            <a:pPr lvl="1"/>
            <a:r>
              <a:rPr lang="de-DE" dirty="0"/>
              <a:t>Realistische Prüfungssimulationen</a:t>
            </a:r>
          </a:p>
        </p:txBody>
      </p:sp>
      <p:sp>
        <p:nvSpPr>
          <p:cNvPr id="53" name="Sprechblase: rechteckig 52">
            <a:extLst>
              <a:ext uri="{FF2B5EF4-FFF2-40B4-BE49-F238E27FC236}">
                <a16:creationId xmlns:a16="http://schemas.microsoft.com/office/drawing/2014/main" id="{BA7A801C-CE14-5D10-3EDA-C986E70B086B}"/>
              </a:ext>
            </a:extLst>
          </p:cNvPr>
          <p:cNvSpPr/>
          <p:nvPr/>
        </p:nvSpPr>
        <p:spPr>
          <a:xfrm>
            <a:off x="-6388777" y="4087032"/>
            <a:ext cx="3062368" cy="1074057"/>
          </a:xfrm>
          <a:prstGeom prst="wedgeRectCallout">
            <a:avLst>
              <a:gd name="adj1" fmla="val 49024"/>
              <a:gd name="adj2" fmla="val 92716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Digitalisierung</a:t>
            </a:r>
            <a:r>
              <a:rPr lang="de-DE" sz="2000" b="1" dirty="0"/>
              <a:t> </a:t>
            </a:r>
          </a:p>
          <a:p>
            <a:pPr lvl="1"/>
            <a:r>
              <a:rPr lang="de-DE" dirty="0"/>
              <a:t>Keine Zettel mehr</a:t>
            </a:r>
          </a:p>
        </p:txBody>
      </p:sp>
      <p:sp>
        <p:nvSpPr>
          <p:cNvPr id="54" name="Sprechblase: rechteckig 53">
            <a:extLst>
              <a:ext uri="{FF2B5EF4-FFF2-40B4-BE49-F238E27FC236}">
                <a16:creationId xmlns:a16="http://schemas.microsoft.com/office/drawing/2014/main" id="{AF575E97-B9C1-E43C-A045-B657FCB20072}"/>
              </a:ext>
            </a:extLst>
          </p:cNvPr>
          <p:cNvSpPr/>
          <p:nvPr/>
        </p:nvSpPr>
        <p:spPr>
          <a:xfrm>
            <a:off x="19630135" y="3844731"/>
            <a:ext cx="3694564" cy="1074057"/>
          </a:xfrm>
          <a:prstGeom prst="wedgeRectCallout">
            <a:avLst>
              <a:gd name="adj1" fmla="val -50739"/>
              <a:gd name="adj2" fmla="val 80300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Gamification</a:t>
            </a:r>
            <a:r>
              <a:rPr lang="de-DE" sz="2000" b="1" dirty="0"/>
              <a:t> </a:t>
            </a:r>
          </a:p>
          <a:p>
            <a:pPr lvl="1"/>
            <a:r>
              <a:rPr lang="de-DE" dirty="0"/>
              <a:t>Spielerisch lernen</a:t>
            </a:r>
          </a:p>
        </p:txBody>
      </p:sp>
      <p:sp>
        <p:nvSpPr>
          <p:cNvPr id="55" name="Sprechblase: rechteckig 54">
            <a:extLst>
              <a:ext uri="{FF2B5EF4-FFF2-40B4-BE49-F238E27FC236}">
                <a16:creationId xmlns:a16="http://schemas.microsoft.com/office/drawing/2014/main" id="{1A42BACE-F536-2A45-6029-D5F4258876CD}"/>
              </a:ext>
            </a:extLst>
          </p:cNvPr>
          <p:cNvSpPr/>
          <p:nvPr/>
        </p:nvSpPr>
        <p:spPr>
          <a:xfrm>
            <a:off x="18464211" y="1773921"/>
            <a:ext cx="5357861" cy="1074057"/>
          </a:xfrm>
          <a:prstGeom prst="wedgeRectCallout">
            <a:avLst>
              <a:gd name="adj1" fmla="val -41582"/>
              <a:gd name="adj2" fmla="val 85621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Kein Verpassen des Unterrichts</a:t>
            </a:r>
            <a:endParaRPr lang="de-DE" sz="2000" b="1" dirty="0"/>
          </a:p>
          <a:p>
            <a:pPr lvl="1"/>
            <a:r>
              <a:rPr lang="de-DE" dirty="0"/>
              <a:t>Unterricht jederzeit nachholen</a:t>
            </a:r>
          </a:p>
        </p:txBody>
      </p:sp>
    </p:spTree>
    <p:extLst>
      <p:ext uri="{BB962C8B-B14F-4D97-AF65-F5344CB8AC3E}">
        <p14:creationId xmlns:p14="http://schemas.microsoft.com/office/powerpoint/2010/main" val="157680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072C-720E-B8E7-6DBF-975CD77BC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39D1-A549-68EE-B380-ABF577B9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32" y="0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Was </a:t>
            </a:r>
            <a:r>
              <a:rPr lang="en-US" sz="4800" dirty="0" err="1"/>
              <a:t>ist</a:t>
            </a:r>
            <a:r>
              <a:rPr lang="en-US" sz="4800" dirty="0"/>
              <a:t> der Benefit von der App?</a:t>
            </a:r>
          </a:p>
        </p:txBody>
      </p:sp>
      <p:pic>
        <p:nvPicPr>
          <p:cNvPr id="1030" name="Picture 6" descr="Smartphone PNGs zum kostenlosen Download">
            <a:extLst>
              <a:ext uri="{FF2B5EF4-FFF2-40B4-BE49-F238E27FC236}">
                <a16:creationId xmlns:a16="http://schemas.microsoft.com/office/drawing/2014/main" id="{ED051D43-5978-13A9-2F6A-6D6AAAD9E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729" y="2409825"/>
            <a:ext cx="794317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prechblase: rechteckig 20">
            <a:extLst>
              <a:ext uri="{FF2B5EF4-FFF2-40B4-BE49-F238E27FC236}">
                <a16:creationId xmlns:a16="http://schemas.microsoft.com/office/drawing/2014/main" id="{D7432866-13ED-4329-DB42-27620D552725}"/>
              </a:ext>
            </a:extLst>
          </p:cNvPr>
          <p:cNvSpPr/>
          <p:nvPr/>
        </p:nvSpPr>
        <p:spPr>
          <a:xfrm>
            <a:off x="7866713" y="3375287"/>
            <a:ext cx="3694564" cy="1074057"/>
          </a:xfrm>
          <a:prstGeom prst="wedgeRectCallout">
            <a:avLst>
              <a:gd name="adj1" fmla="val -50739"/>
              <a:gd name="adj2" fmla="val 80300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Gamification</a:t>
            </a:r>
            <a:r>
              <a:rPr lang="de-DE" sz="2000" b="1" dirty="0"/>
              <a:t> </a:t>
            </a:r>
          </a:p>
          <a:p>
            <a:pPr lvl="1"/>
            <a:r>
              <a:rPr lang="de-DE" dirty="0"/>
              <a:t>Spielerisch lernen</a:t>
            </a:r>
          </a:p>
        </p:txBody>
      </p:sp>
      <p:sp>
        <p:nvSpPr>
          <p:cNvPr id="22" name="Sprechblase: rechteckig 21">
            <a:extLst>
              <a:ext uri="{FF2B5EF4-FFF2-40B4-BE49-F238E27FC236}">
                <a16:creationId xmlns:a16="http://schemas.microsoft.com/office/drawing/2014/main" id="{58CC1921-34C0-8123-6566-A57CF392CB43}"/>
              </a:ext>
            </a:extLst>
          </p:cNvPr>
          <p:cNvSpPr/>
          <p:nvPr/>
        </p:nvSpPr>
        <p:spPr>
          <a:xfrm>
            <a:off x="6700789" y="1304477"/>
            <a:ext cx="5357861" cy="1074057"/>
          </a:xfrm>
          <a:prstGeom prst="wedgeRectCallout">
            <a:avLst>
              <a:gd name="adj1" fmla="val -41582"/>
              <a:gd name="adj2" fmla="val 85621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Kein Verpassen des Unterrichts</a:t>
            </a:r>
            <a:endParaRPr lang="de-DE" sz="2000" b="1" dirty="0"/>
          </a:p>
          <a:p>
            <a:pPr lvl="1"/>
            <a:r>
              <a:rPr lang="de-DE" dirty="0"/>
              <a:t>Unterricht jederzeit nachholen</a:t>
            </a:r>
          </a:p>
        </p:txBody>
      </p:sp>
      <p:sp>
        <p:nvSpPr>
          <p:cNvPr id="23" name="Sprechblase: rechteckig 22">
            <a:extLst>
              <a:ext uri="{FF2B5EF4-FFF2-40B4-BE49-F238E27FC236}">
                <a16:creationId xmlns:a16="http://schemas.microsoft.com/office/drawing/2014/main" id="{AD87B5ED-EF43-3F87-ADB9-8A1C38306518}"/>
              </a:ext>
            </a:extLst>
          </p:cNvPr>
          <p:cNvSpPr/>
          <p:nvPr/>
        </p:nvSpPr>
        <p:spPr>
          <a:xfrm>
            <a:off x="252332" y="2447925"/>
            <a:ext cx="4325288" cy="1074057"/>
          </a:xfrm>
          <a:prstGeom prst="wedgeRectCallout">
            <a:avLst>
              <a:gd name="adj1" fmla="val 38449"/>
              <a:gd name="adj2" fmla="val 90942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Prüfungssituationen</a:t>
            </a:r>
            <a:r>
              <a:rPr lang="de-DE" sz="2000" b="1" dirty="0"/>
              <a:t> </a:t>
            </a:r>
          </a:p>
          <a:p>
            <a:pPr lvl="1"/>
            <a:r>
              <a:rPr lang="de-DE" dirty="0"/>
              <a:t>Realistische Prüfungssimulationen</a:t>
            </a:r>
          </a:p>
        </p:txBody>
      </p:sp>
      <p:sp>
        <p:nvSpPr>
          <p:cNvPr id="24" name="Sprechblase: rechteckig 23">
            <a:extLst>
              <a:ext uri="{FF2B5EF4-FFF2-40B4-BE49-F238E27FC236}">
                <a16:creationId xmlns:a16="http://schemas.microsoft.com/office/drawing/2014/main" id="{000F18D5-D177-D502-650D-9BACA7877896}"/>
              </a:ext>
            </a:extLst>
          </p:cNvPr>
          <p:cNvSpPr/>
          <p:nvPr/>
        </p:nvSpPr>
        <p:spPr>
          <a:xfrm>
            <a:off x="445545" y="4801769"/>
            <a:ext cx="3062368" cy="1074057"/>
          </a:xfrm>
          <a:prstGeom prst="wedgeRectCallout">
            <a:avLst>
              <a:gd name="adj1" fmla="val 49024"/>
              <a:gd name="adj2" fmla="val 92716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2400" b="1" dirty="0"/>
              <a:t>Digitalisierung</a:t>
            </a:r>
            <a:r>
              <a:rPr lang="de-DE" sz="2000" b="1" dirty="0"/>
              <a:t> </a:t>
            </a:r>
          </a:p>
          <a:p>
            <a:pPr lvl="1"/>
            <a:r>
              <a:rPr lang="de-DE" dirty="0"/>
              <a:t>Keine Zettel mehr</a:t>
            </a:r>
          </a:p>
        </p:txBody>
      </p:sp>
      <p:pic>
        <p:nvPicPr>
          <p:cNvPr id="25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A63BE3DB-9894-CE1B-A139-A94172DDA3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2519"/>
          <a:stretch>
            <a:fillRect/>
          </a:stretch>
        </p:blipFill>
        <p:spPr>
          <a:xfrm>
            <a:off x="5303490" y="3106223"/>
            <a:ext cx="1223821" cy="1612184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B736D187-5EAC-5E5F-1A57-BF9C4CCFF2EF}"/>
              </a:ext>
            </a:extLst>
          </p:cNvPr>
          <p:cNvSpPr txBox="1"/>
          <p:nvPr/>
        </p:nvSpPr>
        <p:spPr>
          <a:xfrm>
            <a:off x="5039097" y="4769917"/>
            <a:ext cx="218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 err="1"/>
              <a:t>SimTune</a:t>
            </a:r>
            <a:endParaRPr lang="de-DE" sz="3200" b="1" dirty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85244BE5-9F30-54C0-F19F-46950E6CEDF4}"/>
              </a:ext>
            </a:extLst>
          </p:cNvPr>
          <p:cNvGrpSpPr/>
          <p:nvPr/>
        </p:nvGrpSpPr>
        <p:grpSpPr>
          <a:xfrm>
            <a:off x="3446762" y="-2602480"/>
            <a:ext cx="6016747" cy="1322693"/>
            <a:chOff x="5089403" y="3535613"/>
            <a:chExt cx="6016747" cy="1322693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2C3E33E8-0C36-E6F3-2A1D-86A16045450E}"/>
                </a:ext>
              </a:extLst>
            </p:cNvPr>
            <p:cNvSpPr/>
            <p:nvPr/>
          </p:nvSpPr>
          <p:spPr>
            <a:xfrm>
              <a:off x="5089403" y="3535613"/>
              <a:ext cx="6016747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27B5D9A1-DB89-8CD0-DB28-65DF4DEC75F8}"/>
                </a:ext>
              </a:extLst>
            </p:cNvPr>
            <p:cNvSpPr txBox="1"/>
            <p:nvPr/>
          </p:nvSpPr>
          <p:spPr>
            <a:xfrm>
              <a:off x="5291719" y="3941028"/>
              <a:ext cx="15584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 err="1"/>
                <a:t>Rythmus</a:t>
              </a:r>
              <a:endParaRPr lang="de-DE" sz="2800" dirty="0"/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1D83206C-D11D-40D7-A674-C2351BF23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9753" y="3656959"/>
              <a:ext cx="3079339" cy="108000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82D65DF-7E89-EC1A-4373-C40BD055105C}"/>
              </a:ext>
            </a:extLst>
          </p:cNvPr>
          <p:cNvGrpSpPr/>
          <p:nvPr/>
        </p:nvGrpSpPr>
        <p:grpSpPr>
          <a:xfrm>
            <a:off x="-5896105" y="3126651"/>
            <a:ext cx="5007097" cy="1322693"/>
            <a:chOff x="5089403" y="4979652"/>
            <a:chExt cx="5007097" cy="1322693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EDCD5FE7-E6C6-128E-06A4-DCA8DA64B186}"/>
                </a:ext>
              </a:extLst>
            </p:cNvPr>
            <p:cNvSpPr/>
            <p:nvPr/>
          </p:nvSpPr>
          <p:spPr>
            <a:xfrm>
              <a:off x="5089403" y="4979652"/>
              <a:ext cx="5007097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EFBB598F-5415-C335-078D-9BBBF40C1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89753" y="5131273"/>
              <a:ext cx="2070826" cy="1080000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B2B2DA98-7B53-3A23-4E57-510DEFDF4E72}"/>
                </a:ext>
              </a:extLst>
            </p:cNvPr>
            <p:cNvSpPr txBox="1"/>
            <p:nvPr/>
          </p:nvSpPr>
          <p:spPr>
            <a:xfrm>
              <a:off x="5291719" y="5385067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Tonarten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5CC9698E-70F9-5FE1-624A-B2153D835534}"/>
              </a:ext>
            </a:extLst>
          </p:cNvPr>
          <p:cNvGrpSpPr/>
          <p:nvPr/>
        </p:nvGrpSpPr>
        <p:grpSpPr>
          <a:xfrm>
            <a:off x="13564787" y="3311219"/>
            <a:ext cx="5007097" cy="1322693"/>
            <a:chOff x="6346703" y="3489673"/>
            <a:chExt cx="5007097" cy="1322693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297652B5-EA79-58DD-5F0F-4755D54A0DBC}"/>
                </a:ext>
              </a:extLst>
            </p:cNvPr>
            <p:cNvSpPr/>
            <p:nvPr/>
          </p:nvSpPr>
          <p:spPr>
            <a:xfrm>
              <a:off x="6346703" y="3489673"/>
              <a:ext cx="5007097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18EE4E0F-14BC-3BDB-295D-386D50E0A598}"/>
                </a:ext>
              </a:extLst>
            </p:cNvPr>
            <p:cNvSpPr txBox="1"/>
            <p:nvPr/>
          </p:nvSpPr>
          <p:spPr>
            <a:xfrm>
              <a:off x="6549019" y="3895088"/>
              <a:ext cx="14423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Akkorde</a:t>
              </a:r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8A958153-6650-1F86-268B-07A5B3A18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59929" y="3611019"/>
              <a:ext cx="2273142" cy="1080000"/>
            </a:xfrm>
            <a:prstGeom prst="rect">
              <a:avLst/>
            </a:prstGeom>
          </p:spPr>
        </p:pic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41D0F61-3C6B-80BF-5D62-8B80A9E26834}"/>
              </a:ext>
            </a:extLst>
          </p:cNvPr>
          <p:cNvGrpSpPr/>
          <p:nvPr/>
        </p:nvGrpSpPr>
        <p:grpSpPr>
          <a:xfrm>
            <a:off x="4593358" y="10036475"/>
            <a:ext cx="4083172" cy="1322693"/>
            <a:chOff x="6346703" y="5271536"/>
            <a:chExt cx="4083172" cy="1322693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0AD61EFA-1F5B-894F-D119-4B6E72AB2192}"/>
                </a:ext>
              </a:extLst>
            </p:cNvPr>
            <p:cNvSpPr/>
            <p:nvPr/>
          </p:nvSpPr>
          <p:spPr>
            <a:xfrm>
              <a:off x="6346703" y="5271536"/>
              <a:ext cx="4083172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31EE808-B42D-D49A-80D7-F17DDCB0B864}"/>
                </a:ext>
              </a:extLst>
            </p:cNvPr>
            <p:cNvSpPr txBox="1"/>
            <p:nvPr/>
          </p:nvSpPr>
          <p:spPr>
            <a:xfrm>
              <a:off x="6549019" y="5671272"/>
              <a:ext cx="2115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Fachbegriffe</a:t>
              </a:r>
            </a:p>
          </p:txBody>
        </p:sp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586C7CA2-B584-B798-B45E-BB5B87C4F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29613" y="5412875"/>
              <a:ext cx="1288073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352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64C75-C4D2-7E1C-6B5D-E7B40398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48D5-9711-6E87-CF23-B6B94886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DA65-3016-C708-B683-3C8A656F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495"/>
            <a:ext cx="10515600" cy="584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i="1" u="sng" dirty="0" err="1"/>
              <a:t>Übungen</a:t>
            </a:r>
            <a:r>
              <a:rPr lang="en-US" i="1" u="sng" dirty="0"/>
              <a:t> für die Bronze </a:t>
            </a:r>
            <a:r>
              <a:rPr lang="en-US" i="1" u="sng" dirty="0" err="1"/>
              <a:t>Übertrittsprüfung</a:t>
            </a:r>
            <a:endParaRPr lang="en-US" i="1" u="sng" dirty="0"/>
          </a:p>
          <a:p>
            <a:endParaRPr lang="en-US" dirty="0"/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E5981F2-71C2-B5BB-1B34-635FE1C21A0F}"/>
              </a:ext>
            </a:extLst>
          </p:cNvPr>
          <p:cNvGrpSpPr/>
          <p:nvPr/>
        </p:nvGrpSpPr>
        <p:grpSpPr>
          <a:xfrm>
            <a:off x="3207094" y="2327113"/>
            <a:ext cx="6016747" cy="1322693"/>
            <a:chOff x="5089403" y="3535613"/>
            <a:chExt cx="6016747" cy="1322693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95DAE580-5DD4-620E-E002-32E0F1ADEF8F}"/>
                </a:ext>
              </a:extLst>
            </p:cNvPr>
            <p:cNvSpPr/>
            <p:nvPr/>
          </p:nvSpPr>
          <p:spPr>
            <a:xfrm>
              <a:off x="5089403" y="3535613"/>
              <a:ext cx="6016747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7D8F751B-4BEB-D048-368D-59BBC5A01C29}"/>
                </a:ext>
              </a:extLst>
            </p:cNvPr>
            <p:cNvSpPr txBox="1"/>
            <p:nvPr/>
          </p:nvSpPr>
          <p:spPr>
            <a:xfrm>
              <a:off x="5291719" y="3941028"/>
              <a:ext cx="15584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 err="1"/>
                <a:t>Rythmus</a:t>
              </a:r>
              <a:endParaRPr lang="de-DE" sz="2800" dirty="0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7FA51C0-08F3-98C7-967F-29EEC46D7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9753" y="3656959"/>
              <a:ext cx="3079339" cy="1080000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F7B9579-3D48-CC90-7D40-00947954A12A}"/>
              </a:ext>
            </a:extLst>
          </p:cNvPr>
          <p:cNvGrpSpPr/>
          <p:nvPr/>
        </p:nvGrpSpPr>
        <p:grpSpPr>
          <a:xfrm>
            <a:off x="1047491" y="3740879"/>
            <a:ext cx="5007097" cy="1322693"/>
            <a:chOff x="5089403" y="4979652"/>
            <a:chExt cx="5007097" cy="1322693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7CB1DBED-511F-5833-BEBD-A4E62E753EE9}"/>
                </a:ext>
              </a:extLst>
            </p:cNvPr>
            <p:cNvSpPr/>
            <p:nvPr/>
          </p:nvSpPr>
          <p:spPr>
            <a:xfrm>
              <a:off x="5089403" y="4979652"/>
              <a:ext cx="5007097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563AD404-7DA5-977E-D59C-E3ED0E30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9753" y="5131273"/>
              <a:ext cx="2070826" cy="1080000"/>
            </a:xfrm>
            <a:prstGeom prst="rect">
              <a:avLst/>
            </a:prstGeom>
          </p:spPr>
        </p:pic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26497FE5-CDDD-FDF1-31B3-F5F7DDB26960}"/>
                </a:ext>
              </a:extLst>
            </p:cNvPr>
            <p:cNvSpPr txBox="1"/>
            <p:nvPr/>
          </p:nvSpPr>
          <p:spPr>
            <a:xfrm>
              <a:off x="5291719" y="5385067"/>
              <a:ext cx="1534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Tonarten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D4193874-08F4-7F8C-C937-65E4DE98E7EE}"/>
              </a:ext>
            </a:extLst>
          </p:cNvPr>
          <p:cNvGrpSpPr/>
          <p:nvPr/>
        </p:nvGrpSpPr>
        <p:grpSpPr>
          <a:xfrm>
            <a:off x="6215468" y="3740878"/>
            <a:ext cx="5007097" cy="1322693"/>
            <a:chOff x="6346703" y="3489673"/>
            <a:chExt cx="5007097" cy="1322693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42772598-30B7-A7BE-242A-C595BCA61E42}"/>
                </a:ext>
              </a:extLst>
            </p:cNvPr>
            <p:cNvSpPr/>
            <p:nvPr/>
          </p:nvSpPr>
          <p:spPr>
            <a:xfrm>
              <a:off x="6346703" y="3489673"/>
              <a:ext cx="5007097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5EF5A959-1820-08B5-9AED-DFF5F6445405}"/>
                </a:ext>
              </a:extLst>
            </p:cNvPr>
            <p:cNvSpPr txBox="1"/>
            <p:nvPr/>
          </p:nvSpPr>
          <p:spPr>
            <a:xfrm>
              <a:off x="6549019" y="3895088"/>
              <a:ext cx="14423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Akkorde</a:t>
              </a: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A3E6D4A7-6EF6-6F38-C462-87EE2560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59929" y="3611019"/>
              <a:ext cx="2273142" cy="1080000"/>
            </a:xfrm>
            <a:prstGeom prst="rect">
              <a:avLst/>
            </a:prstGeom>
          </p:spPr>
        </p:pic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B4BB7A12-584C-E578-A55F-6379A1639759}"/>
              </a:ext>
            </a:extLst>
          </p:cNvPr>
          <p:cNvGrpSpPr/>
          <p:nvPr/>
        </p:nvGrpSpPr>
        <p:grpSpPr>
          <a:xfrm>
            <a:off x="4292539" y="5170182"/>
            <a:ext cx="4083172" cy="1322693"/>
            <a:chOff x="6346703" y="5271536"/>
            <a:chExt cx="4083172" cy="1322693"/>
          </a:xfrm>
        </p:grpSpPr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2C40B443-60FA-115D-55DD-1CA1F9E926EE}"/>
                </a:ext>
              </a:extLst>
            </p:cNvPr>
            <p:cNvSpPr/>
            <p:nvPr/>
          </p:nvSpPr>
          <p:spPr>
            <a:xfrm>
              <a:off x="6346703" y="5271536"/>
              <a:ext cx="4083172" cy="13226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0AAE3907-3AC1-5775-C53F-1D87A3A624B1}"/>
                </a:ext>
              </a:extLst>
            </p:cNvPr>
            <p:cNvSpPr txBox="1"/>
            <p:nvPr/>
          </p:nvSpPr>
          <p:spPr>
            <a:xfrm>
              <a:off x="6549019" y="5671272"/>
              <a:ext cx="2115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Fachbegriffe</a:t>
              </a:r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09C733DB-3212-326B-7754-8D1D111C6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29613" y="5412875"/>
              <a:ext cx="1288073" cy="1080000"/>
            </a:xfrm>
            <a:prstGeom prst="rect">
              <a:avLst/>
            </a:prstGeom>
          </p:spPr>
        </p:pic>
      </p:grpSp>
      <p:pic>
        <p:nvPicPr>
          <p:cNvPr id="43" name="Picture 6" descr="Smartphone PNGs zum kostenlosen Download">
            <a:extLst>
              <a:ext uri="{FF2B5EF4-FFF2-40B4-BE49-F238E27FC236}">
                <a16:creationId xmlns:a16="http://schemas.microsoft.com/office/drawing/2014/main" id="{957C03A9-3106-62AE-E1A4-1D94CC3FB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921" y="9887851"/>
            <a:ext cx="2622157" cy="146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Sprechblase: rechteckig 43">
            <a:extLst>
              <a:ext uri="{FF2B5EF4-FFF2-40B4-BE49-F238E27FC236}">
                <a16:creationId xmlns:a16="http://schemas.microsoft.com/office/drawing/2014/main" id="{EF3CD6C8-3E4C-13E5-567A-283004D4C3A4}"/>
              </a:ext>
            </a:extLst>
          </p:cNvPr>
          <p:cNvSpPr/>
          <p:nvPr/>
        </p:nvSpPr>
        <p:spPr>
          <a:xfrm>
            <a:off x="13927491" y="5522041"/>
            <a:ext cx="1439893" cy="970834"/>
          </a:xfrm>
          <a:prstGeom prst="wedgeRectCallout">
            <a:avLst>
              <a:gd name="adj1" fmla="val -50739"/>
              <a:gd name="adj2" fmla="val 80300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1000" b="1" dirty="0"/>
              <a:t>Gamification</a:t>
            </a:r>
            <a:r>
              <a:rPr lang="de-DE" sz="900" b="1" dirty="0"/>
              <a:t> </a:t>
            </a:r>
          </a:p>
          <a:p>
            <a:pPr lvl="1"/>
            <a:r>
              <a:rPr lang="de-DE" sz="800" dirty="0"/>
              <a:t>Spielerisch lernen</a:t>
            </a:r>
          </a:p>
        </p:txBody>
      </p:sp>
      <p:sp>
        <p:nvSpPr>
          <p:cNvPr id="45" name="Sprechblase: rechteckig 44">
            <a:extLst>
              <a:ext uri="{FF2B5EF4-FFF2-40B4-BE49-F238E27FC236}">
                <a16:creationId xmlns:a16="http://schemas.microsoft.com/office/drawing/2014/main" id="{0872EDBC-A2B5-3038-D06B-F6DCE73489E2}"/>
              </a:ext>
            </a:extLst>
          </p:cNvPr>
          <p:cNvSpPr/>
          <p:nvPr/>
        </p:nvSpPr>
        <p:spPr>
          <a:xfrm>
            <a:off x="13248427" y="616631"/>
            <a:ext cx="2798023" cy="704169"/>
          </a:xfrm>
          <a:prstGeom prst="wedgeRectCallout">
            <a:avLst>
              <a:gd name="adj1" fmla="val -41582"/>
              <a:gd name="adj2" fmla="val 85621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1000" b="1" dirty="0"/>
              <a:t>Kein Verpassen des Unterrichts</a:t>
            </a:r>
            <a:endParaRPr lang="de-DE" sz="900" b="1" dirty="0"/>
          </a:p>
          <a:p>
            <a:pPr lvl="1"/>
            <a:r>
              <a:rPr lang="de-DE" sz="800" dirty="0"/>
              <a:t>Unterricht jederzeit nachholen</a:t>
            </a:r>
          </a:p>
        </p:txBody>
      </p:sp>
      <p:sp>
        <p:nvSpPr>
          <p:cNvPr id="46" name="Sprechblase: rechteckig 45">
            <a:extLst>
              <a:ext uri="{FF2B5EF4-FFF2-40B4-BE49-F238E27FC236}">
                <a16:creationId xmlns:a16="http://schemas.microsoft.com/office/drawing/2014/main" id="{B2775D5D-6023-B34A-F3CC-906D8A337696}"/>
              </a:ext>
            </a:extLst>
          </p:cNvPr>
          <p:cNvSpPr/>
          <p:nvPr/>
        </p:nvSpPr>
        <p:spPr>
          <a:xfrm>
            <a:off x="-2942113" y="968715"/>
            <a:ext cx="2185299" cy="584201"/>
          </a:xfrm>
          <a:prstGeom prst="wedgeRectCallout">
            <a:avLst>
              <a:gd name="adj1" fmla="val 38449"/>
              <a:gd name="adj2" fmla="val 90942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1000" b="1" dirty="0"/>
              <a:t>Prüfungssituationen</a:t>
            </a:r>
            <a:r>
              <a:rPr lang="de-DE" sz="900" b="1" dirty="0"/>
              <a:t> </a:t>
            </a:r>
          </a:p>
          <a:p>
            <a:pPr lvl="1"/>
            <a:r>
              <a:rPr lang="de-DE" sz="800" dirty="0"/>
              <a:t>Realistische Prüfungssimulationen</a:t>
            </a:r>
          </a:p>
        </p:txBody>
      </p:sp>
      <p:sp>
        <p:nvSpPr>
          <p:cNvPr id="47" name="Sprechblase: rechteckig 46">
            <a:extLst>
              <a:ext uri="{FF2B5EF4-FFF2-40B4-BE49-F238E27FC236}">
                <a16:creationId xmlns:a16="http://schemas.microsoft.com/office/drawing/2014/main" id="{09D0C857-2516-2B2B-D9C3-DEDBD764003C}"/>
              </a:ext>
            </a:extLst>
          </p:cNvPr>
          <p:cNvSpPr/>
          <p:nvPr/>
        </p:nvSpPr>
        <p:spPr>
          <a:xfrm>
            <a:off x="-2094670" y="6706769"/>
            <a:ext cx="1531184" cy="843381"/>
          </a:xfrm>
          <a:prstGeom prst="wedgeRectCallout">
            <a:avLst>
              <a:gd name="adj1" fmla="val 49024"/>
              <a:gd name="adj2" fmla="val 92716"/>
            </a:avLst>
          </a:prstGeom>
          <a:solidFill>
            <a:srgbClr val="6496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de-DE" sz="1000" b="1" dirty="0"/>
              <a:t>Digitalisierung</a:t>
            </a:r>
            <a:r>
              <a:rPr lang="de-DE" sz="900" b="1" dirty="0"/>
              <a:t> </a:t>
            </a:r>
          </a:p>
          <a:p>
            <a:pPr lvl="1"/>
            <a:r>
              <a:rPr lang="de-DE" sz="800" dirty="0"/>
              <a:t>Keine Zettel mehr</a:t>
            </a:r>
          </a:p>
        </p:txBody>
      </p:sp>
      <p:pic>
        <p:nvPicPr>
          <p:cNvPr id="48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C1961A7F-B6F8-2849-1A6C-390B4CE209C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" b="2519"/>
          <a:stretch>
            <a:fillRect/>
          </a:stretch>
        </p:blipFill>
        <p:spPr>
          <a:xfrm>
            <a:off x="5921727" y="10023722"/>
            <a:ext cx="348546" cy="459152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9" name="Textfeld 48">
            <a:extLst>
              <a:ext uri="{FF2B5EF4-FFF2-40B4-BE49-F238E27FC236}">
                <a16:creationId xmlns:a16="http://schemas.microsoft.com/office/drawing/2014/main" id="{ECA33446-5D6F-2C15-C2FF-CBAF10314FC3}"/>
              </a:ext>
            </a:extLst>
          </p:cNvPr>
          <p:cNvSpPr txBox="1"/>
          <p:nvPr/>
        </p:nvSpPr>
        <p:spPr>
          <a:xfrm>
            <a:off x="5654839" y="10482874"/>
            <a:ext cx="1121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/>
              <a:t>SimTune</a:t>
            </a:r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3396168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791A2-8BB1-46D4-8B21-FE9A951D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58D0-B728-ED12-B5DE-E56D9D32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6CDB96-DD34-15AE-D637-69D5EA7AF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189" y="2647950"/>
            <a:ext cx="9125621" cy="370791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95FD951-432F-9090-C355-47A4E11BA24B}"/>
              </a:ext>
            </a:extLst>
          </p:cNvPr>
          <p:cNvSpPr txBox="1"/>
          <p:nvPr/>
        </p:nvSpPr>
        <p:spPr>
          <a:xfrm>
            <a:off x="838200" y="1338321"/>
            <a:ext cx="1143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Töne (lesen):</a:t>
            </a:r>
          </a:p>
          <a:p>
            <a:r>
              <a:rPr lang="de-DE" sz="2400" dirty="0"/>
              <a:t>Ziel ist es die Note am Klavier lesen zu können - ob diese ein c‘ oder ein c ist, ist egal</a:t>
            </a:r>
          </a:p>
        </p:txBody>
      </p:sp>
      <p:pic>
        <p:nvPicPr>
          <p:cNvPr id="9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FC666689-3531-3C41-540D-B575C7B8F8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2519"/>
          <a:stretch>
            <a:fillRect/>
          </a:stretch>
        </p:blipFill>
        <p:spPr>
          <a:xfrm>
            <a:off x="11077575" y="160186"/>
            <a:ext cx="832469" cy="1096642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569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F5DD-A590-0051-749B-5C05D47B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6AA6-3447-16D6-2326-A9459350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6CC4E5B-682E-2637-CF6E-3D12AC4888F1}"/>
              </a:ext>
            </a:extLst>
          </p:cNvPr>
          <p:cNvSpPr txBox="1"/>
          <p:nvPr/>
        </p:nvSpPr>
        <p:spPr>
          <a:xfrm>
            <a:off x="838200" y="1338321"/>
            <a:ext cx="1143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Intervalle (schreiben):</a:t>
            </a:r>
          </a:p>
          <a:p>
            <a:r>
              <a:rPr lang="de-DE" sz="2400" dirty="0"/>
              <a:t>Ziel ist es richtige Intervalle zu schreiben und den Abstand der Noten zu lernen</a:t>
            </a:r>
          </a:p>
        </p:txBody>
      </p:sp>
      <p:pic>
        <p:nvPicPr>
          <p:cNvPr id="9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17742E32-9E4F-B5F5-B4FA-493CB3C4D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2519"/>
          <a:stretch>
            <a:fillRect/>
          </a:stretch>
        </p:blipFill>
        <p:spPr>
          <a:xfrm>
            <a:off x="11077575" y="160186"/>
            <a:ext cx="832469" cy="1096642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E099CE3-8AAA-7F50-9717-C7C678779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945" y="2537225"/>
            <a:ext cx="9712109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5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B630-368A-8776-B857-6BE5C26B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0176-CE30-8507-9D6C-3257D434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C029BC-6F04-8F97-84AD-D1E2730C3E4F}"/>
              </a:ext>
            </a:extLst>
          </p:cNvPr>
          <p:cNvSpPr txBox="1"/>
          <p:nvPr/>
        </p:nvSpPr>
        <p:spPr>
          <a:xfrm>
            <a:off x="838200" y="1338321"/>
            <a:ext cx="1143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Tonleitern (lesen):</a:t>
            </a:r>
          </a:p>
          <a:p>
            <a:r>
              <a:rPr lang="de-DE" sz="2400" dirty="0"/>
              <a:t>Ziel ist es die richtige Tonleiter zu bestimmen</a:t>
            </a:r>
          </a:p>
        </p:txBody>
      </p:sp>
      <p:pic>
        <p:nvPicPr>
          <p:cNvPr id="9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D6B23FE1-C043-9ADB-C593-431F436EE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2519"/>
          <a:stretch>
            <a:fillRect/>
          </a:stretch>
        </p:blipFill>
        <p:spPr>
          <a:xfrm>
            <a:off x="11077575" y="160186"/>
            <a:ext cx="832469" cy="1096642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D734154-1447-3BEC-5FA5-D46CCF027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512" y="2477767"/>
            <a:ext cx="8728975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0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6A1E-6882-5E34-85E5-4B6F047B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B130-782D-84D6-3254-D2DAC5C8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B2192C4-C0B8-CA5A-0D41-923445A1DBD0}"/>
              </a:ext>
            </a:extLst>
          </p:cNvPr>
          <p:cNvSpPr txBox="1"/>
          <p:nvPr/>
        </p:nvSpPr>
        <p:spPr>
          <a:xfrm>
            <a:off x="838200" y="1338321"/>
            <a:ext cx="1143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Tonleitern (lesen):</a:t>
            </a:r>
          </a:p>
          <a:p>
            <a:r>
              <a:rPr lang="de-DE" sz="2400" dirty="0"/>
              <a:t>Ziel ist es die richtige Tonleiter zu bestimmen</a:t>
            </a:r>
          </a:p>
        </p:txBody>
      </p:sp>
      <p:pic>
        <p:nvPicPr>
          <p:cNvPr id="9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49CF2040-DFE8-FEE0-D1F1-498E3A9069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2519"/>
          <a:stretch>
            <a:fillRect/>
          </a:stretch>
        </p:blipFill>
        <p:spPr>
          <a:xfrm>
            <a:off x="11077575" y="160186"/>
            <a:ext cx="832469" cy="1096642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14E9556-8AEA-BC9C-81BE-4A267DE9A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512" y="2477767"/>
            <a:ext cx="8728975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7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10DC-FB8D-8290-073D-75E5A6B5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5464-AAA7-4302-BEBB-458FDE36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16E849-3BAA-5AA5-15B2-61C34FA56D7E}"/>
              </a:ext>
            </a:extLst>
          </p:cNvPr>
          <p:cNvSpPr txBox="1"/>
          <p:nvPr/>
        </p:nvSpPr>
        <p:spPr>
          <a:xfrm>
            <a:off x="838200" y="1338321"/>
            <a:ext cx="1143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Prüfungssimulationen:</a:t>
            </a:r>
            <a:br>
              <a:rPr lang="de-DE" sz="2400" dirty="0"/>
            </a:br>
            <a:r>
              <a:rPr lang="de-DE" sz="2400" dirty="0"/>
              <a:t>Simulation einer Prüfung + der User kann auswählen was er geprüft werden will</a:t>
            </a:r>
          </a:p>
        </p:txBody>
      </p:sp>
      <p:pic>
        <p:nvPicPr>
          <p:cNvPr id="9" name="Picture 3" descr="https://if210019.cloud.htl-leonding.ac.at/assets/images/Logo.png">
            <a:extLst>
              <a:ext uri="{FF2B5EF4-FFF2-40B4-BE49-F238E27FC236}">
                <a16:creationId xmlns:a16="http://schemas.microsoft.com/office/drawing/2014/main" id="{FC23D478-C237-DB71-F625-CDB508A83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2519"/>
          <a:stretch>
            <a:fillRect/>
          </a:stretch>
        </p:blipFill>
        <p:spPr>
          <a:xfrm>
            <a:off x="11077575" y="160186"/>
            <a:ext cx="832469" cy="1096642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9AEE937-66D2-D11B-6AFC-653B77859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723" y="2524218"/>
            <a:ext cx="9540554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5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6094-11A5-D30E-4F89-34D05FAB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F34F-2906-2136-052E-BF8CA66B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3" y="2678734"/>
            <a:ext cx="12194208" cy="1325563"/>
          </a:xfrm>
        </p:spPr>
        <p:txBody>
          <a:bodyPr>
            <a:noAutofit/>
          </a:bodyPr>
          <a:lstStyle/>
          <a:p>
            <a:pPr algn="ctr"/>
            <a:r>
              <a:rPr lang="en-US" sz="9600"/>
              <a:t>Live-Demo</a:t>
            </a:r>
            <a:endParaRPr lang="de-DE" sz="9600"/>
          </a:p>
        </p:txBody>
      </p:sp>
    </p:spTree>
    <p:extLst>
      <p:ext uri="{BB962C8B-B14F-4D97-AF65-F5344CB8AC3E}">
        <p14:creationId xmlns:p14="http://schemas.microsoft.com/office/powerpoint/2010/main" val="3364446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14AC1CA6-9C6F-5C27-D03F-5A455A2A63FF}"/>
              </a:ext>
            </a:extLst>
          </p:cNvPr>
          <p:cNvSpPr/>
          <p:nvPr/>
        </p:nvSpPr>
        <p:spPr>
          <a:xfrm>
            <a:off x="6301741" y="188060"/>
            <a:ext cx="2304196" cy="426380"/>
          </a:xfrm>
          <a:prstGeom prst="roundRect">
            <a:avLst/>
          </a:prstGeom>
          <a:solidFill>
            <a:srgbClr val="6496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CA39E770-C762-7090-EF57-A86FE5D61221}"/>
              </a:ext>
            </a:extLst>
          </p:cNvPr>
          <p:cNvSpPr/>
          <p:nvPr/>
        </p:nvSpPr>
        <p:spPr>
          <a:xfrm>
            <a:off x="3027135" y="4540090"/>
            <a:ext cx="3319669" cy="1266383"/>
          </a:xfrm>
          <a:prstGeom prst="roundRect">
            <a:avLst/>
          </a:prstGeom>
          <a:solidFill>
            <a:srgbClr val="6496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0DEBC63E-55D3-1293-CE2F-84158402A2FC}"/>
              </a:ext>
            </a:extLst>
          </p:cNvPr>
          <p:cNvSpPr/>
          <p:nvPr/>
        </p:nvSpPr>
        <p:spPr>
          <a:xfrm>
            <a:off x="6599704" y="1844942"/>
            <a:ext cx="3319669" cy="1266383"/>
          </a:xfrm>
          <a:prstGeom prst="roundRect">
            <a:avLst/>
          </a:prstGeom>
          <a:solidFill>
            <a:srgbClr val="6496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5856624A-3759-DEAC-D25A-78A6E764FC0B}"/>
              </a:ext>
            </a:extLst>
          </p:cNvPr>
          <p:cNvSpPr/>
          <p:nvPr/>
        </p:nvSpPr>
        <p:spPr>
          <a:xfrm>
            <a:off x="1919521" y="1844943"/>
            <a:ext cx="3319669" cy="1266383"/>
          </a:xfrm>
          <a:prstGeom prst="roundRect">
            <a:avLst/>
          </a:prstGeom>
          <a:solidFill>
            <a:srgbClr val="6496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 descr="Ein Bild, das Entwurf, Kreis, Schwarzweiß, Design enthält.&#10;&#10;KI-generierte Inhalte können fehlerhaft sein.">
            <a:extLst>
              <a:ext uri="{FF2B5EF4-FFF2-40B4-BE49-F238E27FC236}">
                <a16:creationId xmlns:a16="http://schemas.microsoft.com/office/drawing/2014/main" id="{2FBECBDB-A828-D3F8-6D77-05D2B78C1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343" y="4768207"/>
            <a:ext cx="1131564" cy="131846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2BCDAB1-14CB-76DB-67D9-D247B372D03C}"/>
              </a:ext>
            </a:extLst>
          </p:cNvPr>
          <p:cNvSpPr/>
          <p:nvPr/>
        </p:nvSpPr>
        <p:spPr>
          <a:xfrm>
            <a:off x="1365693" y="1179454"/>
            <a:ext cx="9287793" cy="5206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 descr="Strichmännchen - Kostenlose menschen-Icons">
            <a:extLst>
              <a:ext uri="{FF2B5EF4-FFF2-40B4-BE49-F238E27FC236}">
                <a16:creationId xmlns:a16="http://schemas.microsoft.com/office/drawing/2014/main" id="{6FCFCDAA-165B-8110-2D6B-AAD65E936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62" y="2795898"/>
            <a:ext cx="986971" cy="98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trichmännchen - Kostenlose menschen-Icons">
            <a:extLst>
              <a:ext uri="{FF2B5EF4-FFF2-40B4-BE49-F238E27FC236}">
                <a16:creationId xmlns:a16="http://schemas.microsoft.com/office/drawing/2014/main" id="{60FECB25-D0F3-1E6A-0C4D-20DB2E295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619" y="1707327"/>
            <a:ext cx="986971" cy="98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4065B7F-E30F-9434-8F25-50F42846D39B}"/>
              </a:ext>
            </a:extLst>
          </p:cNvPr>
          <p:cNvSpPr txBox="1"/>
          <p:nvPr/>
        </p:nvSpPr>
        <p:spPr>
          <a:xfrm>
            <a:off x="392071" y="3679372"/>
            <a:ext cx="65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User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7EDBB3A-DAAC-2EAB-4109-16890B30282B}"/>
              </a:ext>
            </a:extLst>
          </p:cNvPr>
          <p:cNvSpPr txBox="1"/>
          <p:nvPr/>
        </p:nvSpPr>
        <p:spPr>
          <a:xfrm>
            <a:off x="11122248" y="2509632"/>
            <a:ext cx="98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Admin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C9E127-7091-040C-AFD0-8A3378A383C2}"/>
              </a:ext>
            </a:extLst>
          </p:cNvPr>
          <p:cNvSpPr txBox="1"/>
          <p:nvPr/>
        </p:nvSpPr>
        <p:spPr>
          <a:xfrm>
            <a:off x="8386008" y="1351732"/>
            <a:ext cx="229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err="1"/>
              <a:t>Leocloud</a:t>
            </a:r>
            <a:r>
              <a:rPr lang="de-DE"/>
              <a:t> </a:t>
            </a:r>
            <a:r>
              <a:rPr lang="de-DE" err="1"/>
              <a:t>Kubernetes</a:t>
            </a:r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A9585D4-3D6D-4288-018A-57F9DEFD7B1D}"/>
              </a:ext>
            </a:extLst>
          </p:cNvPr>
          <p:cNvSpPr txBox="1"/>
          <p:nvPr/>
        </p:nvSpPr>
        <p:spPr>
          <a:xfrm>
            <a:off x="8605936" y="5398302"/>
            <a:ext cx="9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SQLite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384952E-179D-6534-F1B8-5CAC5DED31F1}"/>
              </a:ext>
            </a:extLst>
          </p:cNvPr>
          <p:cNvSpPr txBox="1"/>
          <p:nvPr/>
        </p:nvSpPr>
        <p:spPr>
          <a:xfrm>
            <a:off x="1946159" y="1913600"/>
            <a:ext cx="326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/>
              <a:t>Angular Frontend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433FED8-7A20-0FD5-14E4-0E4C93A621EC}"/>
              </a:ext>
            </a:extLst>
          </p:cNvPr>
          <p:cNvSpPr txBox="1"/>
          <p:nvPr/>
        </p:nvSpPr>
        <p:spPr>
          <a:xfrm>
            <a:off x="3184841" y="4629059"/>
            <a:ext cx="333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/>
              <a:t>Asp </a:t>
            </a:r>
            <a:r>
              <a:rPr lang="de-DE" b="1" err="1"/>
              <a:t>Dotnet</a:t>
            </a:r>
            <a:r>
              <a:rPr lang="de-DE" b="1"/>
              <a:t> Core Backend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E5E092E-FCC7-130D-66E0-95C1BA9D761B}"/>
              </a:ext>
            </a:extLst>
          </p:cNvPr>
          <p:cNvSpPr txBox="1"/>
          <p:nvPr/>
        </p:nvSpPr>
        <p:spPr>
          <a:xfrm>
            <a:off x="6652982" y="1913600"/>
            <a:ext cx="333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err="1"/>
              <a:t>Adminer</a:t>
            </a:r>
            <a:r>
              <a:rPr lang="de-DE" b="1"/>
              <a:t> Container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6A6C162-680A-563D-9F16-274FE82A0019}"/>
              </a:ext>
            </a:extLst>
          </p:cNvPr>
          <p:cNvSpPr txBox="1"/>
          <p:nvPr/>
        </p:nvSpPr>
        <p:spPr>
          <a:xfrm>
            <a:off x="6693554" y="2329904"/>
            <a:ext cx="2796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DB-Management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E7E4BAA-53A7-7F87-7153-8870DCCBBF74}"/>
              </a:ext>
            </a:extLst>
          </p:cNvPr>
          <p:cNvCxnSpPr>
            <a:cxnSpLocks/>
            <a:stCxn id="1026" idx="3"/>
            <a:endCxn id="43" idx="1"/>
          </p:cNvCxnSpPr>
          <p:nvPr/>
        </p:nvCxnSpPr>
        <p:spPr>
          <a:xfrm flipV="1">
            <a:off x="1201733" y="2478135"/>
            <a:ext cx="717788" cy="8112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7EC6B926-01E8-3DE6-AD9F-992EF1AEFF16}"/>
              </a:ext>
            </a:extLst>
          </p:cNvPr>
          <p:cNvCxnSpPr>
            <a:cxnSpLocks/>
            <a:stCxn id="43" idx="2"/>
            <a:endCxn id="46" idx="0"/>
          </p:cNvCxnSpPr>
          <p:nvPr/>
        </p:nvCxnSpPr>
        <p:spPr>
          <a:xfrm>
            <a:off x="3579356" y="3111326"/>
            <a:ext cx="1107614" cy="1428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FCBB063-2C08-6D9D-AB3E-78CA99169266}"/>
              </a:ext>
            </a:extLst>
          </p:cNvPr>
          <p:cNvCxnSpPr>
            <a:cxnSpLocks/>
            <a:stCxn id="49" idx="2"/>
            <a:endCxn id="15" idx="0"/>
          </p:cNvCxnSpPr>
          <p:nvPr/>
        </p:nvCxnSpPr>
        <p:spPr>
          <a:xfrm>
            <a:off x="8259539" y="3111325"/>
            <a:ext cx="765586" cy="1656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B53A546-2E45-1DBC-FE71-DC1085FE03AC}"/>
              </a:ext>
            </a:extLst>
          </p:cNvPr>
          <p:cNvCxnSpPr>
            <a:cxnSpLocks/>
            <a:stCxn id="46" idx="3"/>
            <a:endCxn id="15" idx="1"/>
          </p:cNvCxnSpPr>
          <p:nvPr/>
        </p:nvCxnSpPr>
        <p:spPr>
          <a:xfrm>
            <a:off x="6346804" y="5173282"/>
            <a:ext cx="2112539" cy="25415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F896138-1449-85DC-CA32-86D7FAF79121}"/>
              </a:ext>
            </a:extLst>
          </p:cNvPr>
          <p:cNvCxnSpPr>
            <a:cxnSpLocks/>
            <a:stCxn id="5" idx="1"/>
            <a:endCxn id="49" idx="3"/>
          </p:cNvCxnSpPr>
          <p:nvPr/>
        </p:nvCxnSpPr>
        <p:spPr>
          <a:xfrm flipH="1">
            <a:off x="9919373" y="2200813"/>
            <a:ext cx="1072246" cy="277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C194A3A9-2E99-C593-E805-35C25DD5428D}"/>
              </a:ext>
            </a:extLst>
          </p:cNvPr>
          <p:cNvSpPr txBox="1"/>
          <p:nvPr/>
        </p:nvSpPr>
        <p:spPr>
          <a:xfrm>
            <a:off x="6510933" y="210249"/>
            <a:ext cx="224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/>
              <a:t>GitHub Actions</a:t>
            </a: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1CA83C07-D4EB-F8C3-F578-29BF93B5E3D3}"/>
              </a:ext>
            </a:extLst>
          </p:cNvPr>
          <p:cNvCxnSpPr>
            <a:cxnSpLocks/>
            <a:stCxn id="53" idx="2"/>
            <a:endCxn id="10" idx="0"/>
          </p:cNvCxnSpPr>
          <p:nvPr/>
        </p:nvCxnSpPr>
        <p:spPr>
          <a:xfrm>
            <a:off x="7453839" y="614440"/>
            <a:ext cx="2082068" cy="737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F13142E9-68D1-FE89-C7C7-6B5EB82042EE}"/>
              </a:ext>
            </a:extLst>
          </p:cNvPr>
          <p:cNvSpPr txBox="1"/>
          <p:nvPr/>
        </p:nvSpPr>
        <p:spPr>
          <a:xfrm>
            <a:off x="8528998" y="738317"/>
            <a:ext cx="8062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/>
              <a:t>Deploy</a:t>
            </a:r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078D281F-6271-2763-7467-53BAE545F9B7}"/>
              </a:ext>
            </a:extLst>
          </p:cNvPr>
          <p:cNvSpPr txBox="1"/>
          <p:nvPr/>
        </p:nvSpPr>
        <p:spPr>
          <a:xfrm>
            <a:off x="4097328" y="3582335"/>
            <a:ext cx="1274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/>
              <a:t>HTTPS/REST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9DA67EB-E9BA-9EF0-E85F-7B35B355865C}"/>
              </a:ext>
            </a:extLst>
          </p:cNvPr>
          <p:cNvSpPr txBox="1"/>
          <p:nvPr/>
        </p:nvSpPr>
        <p:spPr>
          <a:xfrm>
            <a:off x="8652203" y="3694761"/>
            <a:ext cx="883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/>
              <a:t>Manage</a:t>
            </a:r>
          </a:p>
        </p:txBody>
      </p:sp>
      <p:pic>
        <p:nvPicPr>
          <p:cNvPr id="58" name="Grafik 57">
            <a:extLst>
              <a:ext uri="{FF2B5EF4-FFF2-40B4-BE49-F238E27FC236}">
                <a16:creationId xmlns:a16="http://schemas.microsoft.com/office/drawing/2014/main" id="{2868F6F8-D7F8-54F6-C78D-4A95F7414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1114" y="1916506"/>
            <a:ext cx="435083" cy="435083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C4430F2F-06A8-18AD-A677-E10FF4CAAB3D}"/>
              </a:ext>
            </a:extLst>
          </p:cNvPr>
          <p:cNvSpPr txBox="1"/>
          <p:nvPr/>
        </p:nvSpPr>
        <p:spPr>
          <a:xfrm>
            <a:off x="3105150" y="4977195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User Verwaltung</a:t>
            </a:r>
          </a:p>
          <a:p>
            <a:r>
              <a:rPr lang="de-DE" sz="1400"/>
              <a:t>Übungs-</a:t>
            </a:r>
            <a:r>
              <a:rPr lang="de-DE" sz="1400" err="1"/>
              <a:t>Importer</a:t>
            </a:r>
            <a:endParaRPr lang="de-DE" sz="140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5C2E1FEE-828D-2E41-4458-E0548CB5C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424" y="4671137"/>
            <a:ext cx="285177" cy="28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miner Icon | Dashboard Icons">
            <a:extLst>
              <a:ext uri="{FF2B5EF4-FFF2-40B4-BE49-F238E27FC236}">
                <a16:creationId xmlns:a16="http://schemas.microsoft.com/office/drawing/2014/main" id="{6A52904D-61A4-3676-21D4-D6857CAEC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557" y="1913600"/>
            <a:ext cx="364228" cy="32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AutoShape 18" descr="Githubactions Vector SVG Icon - SVG Repo">
            <a:extLst>
              <a:ext uri="{FF2B5EF4-FFF2-40B4-BE49-F238E27FC236}">
                <a16:creationId xmlns:a16="http://schemas.microsoft.com/office/drawing/2014/main" id="{920509AB-AD17-B94D-5344-EA30E7894E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39" name="Rechteck: gefaltete Ecke 1038">
            <a:extLst>
              <a:ext uri="{FF2B5EF4-FFF2-40B4-BE49-F238E27FC236}">
                <a16:creationId xmlns:a16="http://schemas.microsoft.com/office/drawing/2014/main" id="{CC81DDF8-E291-1FFB-685F-6979271A35AE}"/>
              </a:ext>
            </a:extLst>
          </p:cNvPr>
          <p:cNvSpPr/>
          <p:nvPr/>
        </p:nvSpPr>
        <p:spPr>
          <a:xfrm>
            <a:off x="10768013" y="5673892"/>
            <a:ext cx="1289374" cy="741195"/>
          </a:xfrm>
          <a:prstGeom prst="foldedCorner">
            <a:avLst/>
          </a:prstGeom>
          <a:solidFill>
            <a:srgbClr val="6496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43" name="Textfeld 1042">
            <a:extLst>
              <a:ext uri="{FF2B5EF4-FFF2-40B4-BE49-F238E27FC236}">
                <a16:creationId xmlns:a16="http://schemas.microsoft.com/office/drawing/2014/main" id="{322F8DA9-B225-133F-B528-479E9C1B8F82}"/>
              </a:ext>
            </a:extLst>
          </p:cNvPr>
          <p:cNvSpPr txBox="1"/>
          <p:nvPr/>
        </p:nvSpPr>
        <p:spPr>
          <a:xfrm>
            <a:off x="10800079" y="5752101"/>
            <a:ext cx="1141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err="1"/>
              <a:t>Persistant</a:t>
            </a:r>
            <a:r>
              <a:rPr lang="de-DE" sz="1600"/>
              <a:t> Volume</a:t>
            </a:r>
          </a:p>
        </p:txBody>
      </p:sp>
      <p:cxnSp>
        <p:nvCxnSpPr>
          <p:cNvPr id="1047" name="Gerade Verbindung mit Pfeil 1046">
            <a:extLst>
              <a:ext uri="{FF2B5EF4-FFF2-40B4-BE49-F238E27FC236}">
                <a16:creationId xmlns:a16="http://schemas.microsoft.com/office/drawing/2014/main" id="{D94E2F87-447D-FB79-C29E-0094B48B8D0D}"/>
              </a:ext>
            </a:extLst>
          </p:cNvPr>
          <p:cNvCxnSpPr>
            <a:stCxn id="1039" idx="1"/>
            <a:endCxn id="15" idx="3"/>
          </p:cNvCxnSpPr>
          <p:nvPr/>
        </p:nvCxnSpPr>
        <p:spPr>
          <a:xfrm flipH="1" flipV="1">
            <a:off x="9590907" y="5427440"/>
            <a:ext cx="1177106" cy="617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8" name="Picture 20" descr="Download Blank Laptop Computer Screen Vector - Laptop Computer Logo PNG  Image with No Background - PNGkey.com">
            <a:extLst>
              <a:ext uri="{FF2B5EF4-FFF2-40B4-BE49-F238E27FC236}">
                <a16:creationId xmlns:a16="http://schemas.microsoft.com/office/drawing/2014/main" id="{39F079AF-9C50-E824-E5C1-25BC495A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812" y="2440848"/>
            <a:ext cx="717789" cy="49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2" descr="Einfaches Smartphone-Symbol PNG- Und SVG-Design Für T-Shirts">
            <a:extLst>
              <a:ext uri="{FF2B5EF4-FFF2-40B4-BE49-F238E27FC236}">
                <a16:creationId xmlns:a16="http://schemas.microsoft.com/office/drawing/2014/main" id="{6EC60C1A-DBB1-0380-6A0C-EF1BF7415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375" y="2351589"/>
            <a:ext cx="646672" cy="64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File:Octicons-mark-github.svg - Wikimedia Commons">
            <a:extLst>
              <a:ext uri="{FF2B5EF4-FFF2-40B4-BE49-F238E27FC236}">
                <a16:creationId xmlns:a16="http://schemas.microsoft.com/office/drawing/2014/main" id="{E22253E0-431D-99C8-443A-166016EE23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1985" y="224455"/>
            <a:ext cx="364517" cy="36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D4AC-852C-1152-BBA8-306AEE61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Plan &amp; </a:t>
            </a:r>
            <a:r>
              <a:rPr lang="en-US" err="1"/>
              <a:t>Marktchancen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11CB-4A7F-BF4B-216F-610A318A8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Gespräche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mit</a:t>
            </a:r>
            <a:r>
              <a:rPr lang="en-US" dirty="0">
                <a:ea typeface="+mn-lt"/>
                <a:cs typeface="+mn-lt"/>
              </a:rPr>
              <a:t> dem OÖ. </a:t>
            </a:r>
            <a:r>
              <a:rPr lang="en-US" dirty="0" err="1">
                <a:ea typeface="+mn-lt"/>
                <a:cs typeface="+mn-lt"/>
              </a:rPr>
              <a:t>Landesmusikschulwerk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Zentrale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Landeslizenz</a:t>
            </a:r>
            <a:r>
              <a:rPr lang="en-US" dirty="0">
                <a:ea typeface="+mn-lt"/>
                <a:cs typeface="+mn-lt"/>
              </a:rPr>
              <a:t> (B2B)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Markt in OÖ &gt; 36 000 </a:t>
            </a:r>
            <a:r>
              <a:rPr lang="en-US" dirty="0" err="1">
                <a:ea typeface="+mn-lt"/>
                <a:cs typeface="+mn-lt"/>
              </a:rPr>
              <a:t>Schülerinnen</a:t>
            </a:r>
            <a:r>
              <a:rPr lang="en-US" dirty="0">
                <a:ea typeface="+mn-lt"/>
                <a:cs typeface="+mn-lt"/>
              </a:rPr>
              <a:t> und Schüler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Skalierbar</a:t>
            </a:r>
            <a:r>
              <a:rPr lang="en-US" dirty="0">
                <a:ea typeface="+mn-lt"/>
                <a:cs typeface="+mn-lt"/>
              </a:rPr>
              <a:t> auf </a:t>
            </a:r>
            <a:r>
              <a:rPr lang="en-US" dirty="0" err="1">
                <a:ea typeface="+mn-lt"/>
                <a:cs typeface="+mn-lt"/>
              </a:rPr>
              <a:t>ganz</a:t>
            </a:r>
            <a:r>
              <a:rPr lang="en-US" dirty="0">
                <a:ea typeface="+mn-lt"/>
                <a:cs typeface="+mn-lt"/>
              </a:rPr>
              <a:t> Österreich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3" descr="Land OÖ Wappen">
            <a:extLst>
              <a:ext uri="{FF2B5EF4-FFF2-40B4-BE49-F238E27FC236}">
                <a16:creationId xmlns:a16="http://schemas.microsoft.com/office/drawing/2014/main" id="{A65CABD0-6207-F589-0668-443F3042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23" y="540897"/>
            <a:ext cx="952633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52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52A71-D805-E517-3C48-DB9163E3C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Zukünftige Entwicklung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7DAA76-7080-28EC-C398-A4BB465EF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77583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9318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1399147-012c-49c3-ac47-78975dfc9a6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B85F868D17CF54AB61AB7D1C2B6E2E2" ma:contentTypeVersion="16" ma:contentTypeDescription="Ein neues Dokument erstellen." ma:contentTypeScope="" ma:versionID="fbb2a6a01455aa1e5df4fcad60182a1a">
  <xsd:schema xmlns:xsd="http://www.w3.org/2001/XMLSchema" xmlns:xs="http://www.w3.org/2001/XMLSchema" xmlns:p="http://schemas.microsoft.com/office/2006/metadata/properties" xmlns:ns3="d1399147-012c-49c3-ac47-78975dfc9a69" xmlns:ns4="1296d46b-ba90-4aa5-818c-eafebd95d5a5" targetNamespace="http://schemas.microsoft.com/office/2006/metadata/properties" ma:root="true" ma:fieldsID="fdecaa0e88ae3e08541de967a2f8a15b" ns3:_="" ns4:_="">
    <xsd:import namespace="d1399147-012c-49c3-ac47-78975dfc9a69"/>
    <xsd:import namespace="1296d46b-ba90-4aa5-818c-eafebd95d5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99147-012c-49c3-ac47-78975dfc9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96d46b-ba90-4aa5-818c-eafebd95d5a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FFD3D5-C8F0-48A9-A6A7-83E822A5AA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D685E8-56DB-4A9A-B4C8-10215191B96A}">
  <ds:schemaRefs>
    <ds:schemaRef ds:uri="1296d46b-ba90-4aa5-818c-eafebd95d5a5"/>
    <ds:schemaRef ds:uri="d1399147-012c-49c3-ac47-78975dfc9a6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3E5E1AA-7413-4A92-B4C0-3DA41DD60B5C}">
  <ds:schemaRefs>
    <ds:schemaRef ds:uri="1296d46b-ba90-4aa5-818c-eafebd95d5a5"/>
    <ds:schemaRef ds:uri="d1399147-012c-49c3-ac47-78975dfc9a6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937</Words>
  <Application>Microsoft Office PowerPoint</Application>
  <PresentationFormat>Breitbild</PresentationFormat>
  <Paragraphs>154</Paragraphs>
  <Slides>13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Meiryo</vt:lpstr>
      <vt:lpstr>Aptos</vt:lpstr>
      <vt:lpstr>Aptos Display</vt:lpstr>
      <vt:lpstr>Arial</vt:lpstr>
      <vt:lpstr>Calibri</vt:lpstr>
      <vt:lpstr>Office</vt:lpstr>
      <vt:lpstr>Simtune</vt:lpstr>
      <vt:lpstr>Ausbildungsweg im Musikschulwerk</vt:lpstr>
      <vt:lpstr>Was ist der Benefit von der App?</vt:lpstr>
      <vt:lpstr>Feature Set</vt:lpstr>
      <vt:lpstr>Feature Set</vt:lpstr>
      <vt:lpstr>Feature Set</vt:lpstr>
      <vt:lpstr>Feature Set</vt:lpstr>
      <vt:lpstr>Feature Set</vt:lpstr>
      <vt:lpstr>Feature Set</vt:lpstr>
      <vt:lpstr>Live-Demo</vt:lpstr>
      <vt:lpstr>PowerPoint-Präsentation</vt:lpstr>
      <vt:lpstr>Business Plan &amp; Marktchancen</vt:lpstr>
      <vt:lpstr>Zukünftige Entwicklung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Keplinger Erik</dc:creator>
  <cp:lastModifiedBy>Tobias Vieghofer</cp:lastModifiedBy>
  <cp:revision>148</cp:revision>
  <dcterms:created xsi:type="dcterms:W3CDTF">2026-02-05T08:09:10Z</dcterms:created>
  <dcterms:modified xsi:type="dcterms:W3CDTF">2026-03-09T16:00:46Z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0x0101006B85F868D17CF54AB61AB7D1C2B6E2E2</vt:lpwstr>
  </property>
</Properties>
</file>