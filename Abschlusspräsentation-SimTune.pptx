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4" r:id="rId4"/>
    <p:sldId id="265" r:id="rId5"/>
    <p:sldId id="258" r:id="rId6"/>
    <p:sldId id="260" r:id="rId7"/>
    <p:sldId id="261" r:id="rId8"/>
    <p:sldId id="262" r:id="rId9"/>
    <p:sldId id="263" r:id="rId10"/>
  </p:sldIdLst>
  <p:sldSz cx="14630400" cy="8229600"/>
  <p:notesSz cx="8229600" cy="14630400"/>
  <p:embeddedFontLst>
    <p:embeddedFont>
      <p:font typeface="Arial Nova Light" panose="020B0304020202020204" pitchFamily="34" charset="0"/>
      <p:regular r:id="rId12"/>
    </p:embeddedFont>
    <p:embeddedFont>
      <p:font typeface="Prata" panose="020B0604020202020204" charset="0"/>
      <p:regular r:id="rId13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7069" autoAdjust="0"/>
  </p:normalViewPr>
  <p:slideViewPr>
    <p:cSldViewPr snapToGrid="0" snapToObjects="1">
      <p:cViewPr varScale="1">
        <p:scale>
          <a:sx n="58" d="100"/>
          <a:sy n="58" d="100"/>
        </p:scale>
        <p:origin x="984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10988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Prinzip</a:t>
            </a:r>
            <a:r>
              <a:rPr lang="en-US" dirty="0"/>
              <a:t> der </a:t>
            </a:r>
            <a:r>
              <a:rPr lang="en-US" dirty="0" err="1"/>
              <a:t>Musikschulen</a:t>
            </a:r>
            <a:r>
              <a:rPr lang="en-US" dirty="0"/>
              <a:t> </a:t>
            </a:r>
            <a:r>
              <a:rPr lang="en-US" dirty="0" err="1"/>
              <a:t>erklären</a:t>
            </a:r>
            <a:br>
              <a:rPr lang="en-US" dirty="0"/>
            </a:br>
            <a:r>
              <a:rPr lang="en-US" dirty="0" err="1"/>
              <a:t>Welche</a:t>
            </a:r>
            <a:r>
              <a:rPr lang="en-US" dirty="0"/>
              <a:t> </a:t>
            </a:r>
            <a:r>
              <a:rPr lang="en-US" dirty="0" err="1"/>
              <a:t>übertrittsprüfungen</a:t>
            </a:r>
            <a:r>
              <a:rPr lang="en-US" dirty="0"/>
              <a:t> </a:t>
            </a:r>
            <a:r>
              <a:rPr lang="en-US" dirty="0" err="1"/>
              <a:t>gibt</a:t>
            </a:r>
            <a:r>
              <a:rPr lang="en-US" dirty="0"/>
              <a:t> es und </a:t>
            </a:r>
            <a:r>
              <a:rPr lang="en-US" dirty="0" err="1"/>
              <a:t>welche</a:t>
            </a:r>
            <a:r>
              <a:rPr lang="en-US" dirty="0"/>
              <a:t> music </a:t>
            </a:r>
            <a:r>
              <a:rPr lang="en-US" dirty="0" err="1"/>
              <a:t>theorieprüfungen</a:t>
            </a:r>
            <a:r>
              <a:rPr lang="en-US" dirty="0"/>
              <a:t> </a:t>
            </a:r>
            <a:r>
              <a:rPr lang="en-US" dirty="0" err="1"/>
              <a:t>müssen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 </a:t>
            </a:r>
            <a:r>
              <a:rPr lang="en-US" dirty="0" err="1"/>
              <a:t>abgeschlossen</a:t>
            </a:r>
            <a:r>
              <a:rPr lang="en-US" dirty="0"/>
              <a:t> </a:t>
            </a:r>
            <a:r>
              <a:rPr lang="en-US" dirty="0" err="1"/>
              <a:t>werden</a:t>
            </a:r>
            <a:endParaRPr lang="en-US" dirty="0"/>
          </a:p>
          <a:p>
            <a:r>
              <a:rPr lang="en-US" dirty="0" err="1"/>
              <a:t>Diagramm</a:t>
            </a:r>
            <a:r>
              <a:rPr lang="en-US" dirty="0"/>
              <a:t> </a:t>
            </a:r>
            <a:r>
              <a:rPr lang="en-US" dirty="0" err="1"/>
              <a:t>anzeigen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den </a:t>
            </a:r>
            <a:r>
              <a:rPr lang="en-US" dirty="0" err="1"/>
              <a:t>Stufen</a:t>
            </a:r>
            <a:r>
              <a:rPr lang="en-US" dirty="0"/>
              <a:t> (Junior, Bronze….) + </a:t>
            </a:r>
            <a:r>
              <a:rPr lang="en-US" dirty="0" err="1"/>
              <a:t>Vorraussetzungen</a:t>
            </a:r>
            <a:endParaRPr lang="en-US" dirty="0"/>
          </a:p>
          <a:p>
            <a:r>
              <a:rPr lang="en-US" dirty="0"/>
              <a:t> + </a:t>
            </a:r>
            <a:r>
              <a:rPr lang="en-US" dirty="0" err="1"/>
              <a:t>Später</a:t>
            </a:r>
            <a:r>
              <a:rPr lang="en-US" dirty="0"/>
              <a:t> 2x </a:t>
            </a:r>
            <a:r>
              <a:rPr lang="en-US" dirty="0" err="1"/>
              <a:t>wiederholen</a:t>
            </a:r>
            <a:endParaRPr lang="en-US" dirty="0"/>
          </a:p>
          <a:p>
            <a:r>
              <a:rPr lang="en-US" dirty="0"/>
              <a:t>Sagen </a:t>
            </a:r>
            <a:r>
              <a:rPr lang="en-US" dirty="0" err="1"/>
              <a:t>wir</a:t>
            </a:r>
            <a:r>
              <a:rPr lang="en-US" dirty="0"/>
              <a:t> Welcher </a:t>
            </a:r>
            <a:r>
              <a:rPr lang="en-US" dirty="0" err="1"/>
              <a:t>Anteil</a:t>
            </a:r>
            <a:r>
              <a:rPr lang="en-US" dirty="0"/>
              <a:t> der </a:t>
            </a:r>
            <a:r>
              <a:rPr lang="en-US" dirty="0" err="1"/>
              <a:t>Theorieprüfung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 von </a:t>
            </a:r>
            <a:r>
              <a:rPr lang="en-US" dirty="0" err="1"/>
              <a:t>uns</a:t>
            </a:r>
            <a:r>
              <a:rPr lang="en-US" dirty="0"/>
              <a:t> </a:t>
            </a:r>
            <a:r>
              <a:rPr lang="en-US" dirty="0" err="1"/>
              <a:t>abgedeckt</a:t>
            </a:r>
            <a:endParaRPr lang="en-US" dirty="0"/>
          </a:p>
          <a:p>
            <a:r>
              <a:rPr lang="en-US" dirty="0" err="1"/>
              <a:t>Kategorien</a:t>
            </a:r>
            <a:r>
              <a:rPr lang="en-US" dirty="0"/>
              <a:t>: Noten lessen (</a:t>
            </a:r>
            <a:r>
              <a:rPr lang="en-US" dirty="0" err="1"/>
              <a:t>Intervalle</a:t>
            </a:r>
            <a:r>
              <a:rPr lang="en-US" dirty="0"/>
              <a:t>, </a:t>
            </a:r>
            <a:r>
              <a:rPr lang="en-US" dirty="0" err="1"/>
              <a:t>Tonleitern</a:t>
            </a:r>
            <a:r>
              <a:rPr lang="en-US" dirty="0"/>
              <a:t>, </a:t>
            </a:r>
            <a:r>
              <a:rPr lang="en-US" dirty="0" err="1"/>
              <a:t>StammtöneI</a:t>
            </a:r>
            <a:r>
              <a:rPr lang="en-US" dirty="0"/>
              <a:t>); </a:t>
            </a:r>
            <a:r>
              <a:rPr lang="en-US" dirty="0" err="1"/>
              <a:t>Töne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 </a:t>
            </a:r>
            <a:r>
              <a:rPr lang="en-US" dirty="0" err="1"/>
              <a:t>abgespielt</a:t>
            </a:r>
            <a:r>
              <a:rPr lang="en-US" dirty="0"/>
              <a:t> (</a:t>
            </a:r>
            <a:r>
              <a:rPr lang="en-US" dirty="0" err="1"/>
              <a:t>Zuordnen</a:t>
            </a:r>
            <a:r>
              <a:rPr lang="en-US" dirty="0"/>
              <a:t> </a:t>
            </a:r>
            <a:r>
              <a:rPr lang="en-US" dirty="0" err="1"/>
              <a:t>ob</a:t>
            </a:r>
            <a:r>
              <a:rPr lang="en-US" dirty="0"/>
              <a:t> </a:t>
            </a:r>
            <a:r>
              <a:rPr lang="en-US" dirty="0" err="1"/>
              <a:t>Intervall</a:t>
            </a:r>
            <a:r>
              <a:rPr lang="en-US" dirty="0"/>
              <a:t>, </a:t>
            </a:r>
            <a:r>
              <a:rPr lang="en-US" dirty="0" err="1"/>
              <a:t>Tonleiter</a:t>
            </a:r>
            <a:r>
              <a:rPr lang="en-US" dirty="0"/>
              <a:t>…)</a:t>
            </a:r>
          </a:p>
          <a:p>
            <a:r>
              <a:rPr lang="en-US" dirty="0" err="1"/>
              <a:t>Übungen</a:t>
            </a:r>
            <a:r>
              <a:rPr lang="en-US" dirty="0"/>
              <a:t> </a:t>
            </a:r>
            <a:r>
              <a:rPr lang="en-US" dirty="0" err="1"/>
              <a:t>anteasern</a:t>
            </a:r>
            <a:r>
              <a:rPr lang="en-US" dirty="0"/>
              <a:t> (</a:t>
            </a:r>
            <a:r>
              <a:rPr lang="en-US" dirty="0" err="1"/>
              <a:t>Wiederkennungseffekt</a:t>
            </a:r>
            <a:r>
              <a:rPr lang="en-US" dirty="0"/>
              <a:t>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A1360-9397-94A6-FAAD-84C167001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F12B89-A7E0-5B4D-5F49-2D4683FE12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E052C5-50A4-E113-32FF-9FA18927E8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Inhaltsverzeichnis</a:t>
            </a:r>
            <a:r>
              <a:rPr lang="en-US" dirty="0"/>
              <a:t> für die Live Demo</a:t>
            </a:r>
          </a:p>
          <a:p>
            <a:r>
              <a:rPr lang="en-US" dirty="0"/>
              <a:t>Feature set in </a:t>
            </a:r>
            <a:r>
              <a:rPr lang="en-US" dirty="0" err="1"/>
              <a:t>worten</a:t>
            </a:r>
            <a:r>
              <a:rPr lang="en-US" dirty="0"/>
              <a:t> &amp; </a:t>
            </a:r>
            <a:r>
              <a:rPr lang="en-US" dirty="0" err="1"/>
              <a:t>erklären</a:t>
            </a:r>
            <a:endParaRPr lang="en-US" dirty="0"/>
          </a:p>
          <a:p>
            <a:r>
              <a:rPr lang="en-US" dirty="0" err="1"/>
              <a:t>Übungsteil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diesen</a:t>
            </a:r>
            <a:r>
              <a:rPr lang="en-US" dirty="0"/>
              <a:t> 3 </a:t>
            </a:r>
            <a:r>
              <a:rPr lang="en-US" dirty="0" err="1"/>
              <a:t>Übungstypen</a:t>
            </a:r>
            <a:endParaRPr lang="en-US" dirty="0"/>
          </a:p>
          <a:p>
            <a:r>
              <a:rPr lang="en-US" dirty="0"/>
              <a:t>Und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Prüfungssimulation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wieder</a:t>
            </a:r>
            <a:r>
              <a:rPr lang="en-US" dirty="0"/>
              <a:t> </a:t>
            </a:r>
            <a:r>
              <a:rPr lang="en-US" dirty="0" err="1"/>
              <a:t>diesen</a:t>
            </a:r>
            <a:r>
              <a:rPr lang="en-US" dirty="0"/>
              <a:t> 3 </a:t>
            </a:r>
            <a:r>
              <a:rPr lang="en-US" dirty="0" err="1"/>
              <a:t>Übungen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D12195-BB32-2CEA-7279-16E5B922A9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673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F9EA2-2875-92F8-88CD-6AD6843AA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9265B6-C342-0BB8-917A-2B665036CD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77CFA-19CE-8C1A-47AC-E8F9C773A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Intervalle</a:t>
            </a:r>
            <a:r>
              <a:rPr lang="en-US" dirty="0"/>
              <a:t> </a:t>
            </a:r>
            <a:r>
              <a:rPr lang="en-US" dirty="0" err="1"/>
              <a:t>schreiben</a:t>
            </a:r>
            <a:r>
              <a:rPr lang="en-US" dirty="0"/>
              <a:t>, Klavier, </a:t>
            </a:r>
            <a:r>
              <a:rPr lang="en-US" dirty="0" err="1"/>
              <a:t>Tonleitern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A1B00-4219-C555-77CB-32B98C71F8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9966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Stattdessen</a:t>
            </a:r>
            <a:r>
              <a:rPr lang="en-US" dirty="0"/>
              <a:t> Business Plan</a:t>
            </a:r>
          </a:p>
          <a:p>
            <a:r>
              <a:rPr lang="en-US" dirty="0" err="1"/>
              <a:t>Marktchancen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Brauchen</a:t>
            </a:r>
            <a:r>
              <a:rPr lang="en-US" dirty="0"/>
              <a:t> </a:t>
            </a:r>
            <a:r>
              <a:rPr lang="en-US" dirty="0" err="1"/>
              <a:t>wir</a:t>
            </a:r>
            <a:r>
              <a:rPr lang="en-US" dirty="0"/>
              <a:t> nicht </a:t>
            </a:r>
            <a:r>
              <a:rPr lang="en-US" dirty="0" err="1"/>
              <a:t>mehr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Evt</a:t>
            </a:r>
            <a:r>
              <a:rPr lang="en-US" dirty="0"/>
              <a:t>. 2 </a:t>
            </a:r>
            <a:r>
              <a:rPr lang="en-US" dirty="0" err="1"/>
              <a:t>folien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3171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2326"/>
          </a:solidFill>
          <a:ln/>
        </p:spPr>
        <p:txBody>
          <a:bodyPr/>
          <a:lstStyle/>
          <a:p>
            <a:endParaRPr lang="de-A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3171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2326"/>
          </a:solidFill>
          <a:ln/>
        </p:spPr>
        <p:txBody>
          <a:bodyPr/>
          <a:lstStyle/>
          <a:p>
            <a:endParaRPr lang="de-A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3171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2326"/>
          </a:solidFill>
          <a:ln/>
        </p:spPr>
        <p:txBody>
          <a:bodyPr/>
          <a:lstStyle/>
          <a:p>
            <a:endParaRPr lang="de-A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317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232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3171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2326"/>
          </a:solidFill>
          <a:ln/>
        </p:spPr>
        <p:txBody>
          <a:bodyPr/>
          <a:lstStyle/>
          <a:p>
            <a:endParaRPr lang="de-A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3171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2326"/>
          </a:solidFill>
          <a:ln/>
        </p:spPr>
        <p:txBody>
          <a:bodyPr/>
          <a:lstStyle/>
          <a:p>
            <a:endParaRPr lang="de-A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3171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2326"/>
          </a:solidFill>
          <a:ln/>
        </p:spPr>
        <p:txBody>
          <a:bodyPr/>
          <a:lstStyle/>
          <a:p>
            <a:endParaRPr lang="de-A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3171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2326"/>
          </a:solidFill>
          <a:ln/>
        </p:spPr>
        <p:txBody>
          <a:bodyPr/>
          <a:lstStyle/>
          <a:p>
            <a:endParaRPr lang="de-A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2065020"/>
            <a:ext cx="7556421" cy="2126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2D4BA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SimTune: Musikalische Übungsplattform für die Übertrittsprüfung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4531519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Entwickelt von Erik &amp; Tobias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793790" y="5149572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Digitale Lernhilfe für Musikschüler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896547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2D4BA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Problem</a:t>
            </a:r>
            <a:endParaRPr lang="en-US" sz="4450" dirty="0"/>
          </a:p>
        </p:txBody>
      </p:sp>
      <p:sp>
        <p:nvSpPr>
          <p:cNvPr id="6" name="Text 2"/>
          <p:cNvSpPr/>
          <p:nvPr/>
        </p:nvSpPr>
        <p:spPr>
          <a:xfrm>
            <a:off x="7017305" y="3023354"/>
            <a:ext cx="6704915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Kommende Übertrittsprüfung für </a:t>
            </a:r>
            <a:r>
              <a:rPr lang="en-US" sz="2200" dirty="0" err="1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ein</a:t>
            </a:r>
            <a:r>
              <a:rPr lang="en-US" sz="220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 Instrument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7017305" y="3360539"/>
            <a:ext cx="555414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Es </a:t>
            </a:r>
            <a:r>
              <a:rPr lang="en-US" sz="1750" dirty="0" err="1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gibt</a:t>
            </a: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 </a:t>
            </a:r>
            <a:r>
              <a:rPr lang="en-US" sz="1750" dirty="0" err="1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keine</a:t>
            </a: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 </a:t>
            </a:r>
            <a:r>
              <a:rPr lang="en-US" sz="1750" dirty="0" err="1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passende</a:t>
            </a: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 </a:t>
            </a:r>
            <a:r>
              <a:rPr lang="en-US" sz="1750" dirty="0" err="1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Lernapp</a:t>
            </a: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 </a:t>
            </a:r>
            <a:r>
              <a:rPr lang="en-US" sz="1750" dirty="0" err="1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dafür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sp>
        <p:nvSpPr>
          <p:cNvPr id="12" name="Shape 7"/>
          <p:cNvSpPr/>
          <p:nvPr/>
        </p:nvSpPr>
        <p:spPr>
          <a:xfrm>
            <a:off x="6280189" y="3126026"/>
            <a:ext cx="510302" cy="510302"/>
          </a:xfrm>
          <a:prstGeom prst="roundRect">
            <a:avLst>
              <a:gd name="adj" fmla="val 6667"/>
            </a:avLst>
          </a:prstGeom>
          <a:solidFill>
            <a:srgbClr val="404245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951" y="3168531"/>
            <a:ext cx="340162" cy="425291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F5E058BD-8218-9840-CBD4-687D83EE45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12138" y="7238560"/>
            <a:ext cx="2908836" cy="991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A667D-427C-9425-E569-BDE5C3AEC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6BFD43C-FF50-ECE7-E935-C241C64EC4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9A7CA39-E7F5-395F-0580-A10C614BAB60}"/>
              </a:ext>
            </a:extLst>
          </p:cNvPr>
          <p:cNvSpPr/>
          <p:nvPr/>
        </p:nvSpPr>
        <p:spPr>
          <a:xfrm>
            <a:off x="6280190" y="1896547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2D4BA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Projektidee &amp; Ziel</a:t>
            </a:r>
            <a:endParaRPr lang="en-US" sz="4450" dirty="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F9772939-A6D4-36C6-E1E1-92A0DDAF11EA}"/>
              </a:ext>
            </a:extLst>
          </p:cNvPr>
          <p:cNvSpPr/>
          <p:nvPr/>
        </p:nvSpPr>
        <p:spPr>
          <a:xfrm>
            <a:off x="6280190" y="2945487"/>
            <a:ext cx="510302" cy="510302"/>
          </a:xfrm>
          <a:prstGeom prst="roundRect">
            <a:avLst>
              <a:gd name="adj" fmla="val 6667"/>
            </a:avLst>
          </a:prstGeom>
          <a:solidFill>
            <a:srgbClr val="404245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57A792A0-1AAA-EF40-C4CD-B88FD2C13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5260" y="2987993"/>
            <a:ext cx="340162" cy="425291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419C0416-7568-0479-1EDC-91A58CC115C2}"/>
              </a:ext>
            </a:extLst>
          </p:cNvPr>
          <p:cNvSpPr/>
          <p:nvPr/>
        </p:nvSpPr>
        <p:spPr>
          <a:xfrm>
            <a:off x="7017305" y="3023354"/>
            <a:ext cx="3022433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Effektive Prüfungsvorbereitung</a:t>
            </a:r>
            <a:endParaRPr lang="en-US" sz="220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8FDEC351-8FCA-D274-B7E4-2BC14E1A4A3C}"/>
              </a:ext>
            </a:extLst>
          </p:cNvPr>
          <p:cNvSpPr/>
          <p:nvPr/>
        </p:nvSpPr>
        <p:spPr>
          <a:xfrm>
            <a:off x="7017306" y="3780354"/>
            <a:ext cx="289941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Digitale Unterstützung beim Lernen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395C5365-1E6B-81F2-8F89-EC2C256AB78C}"/>
              </a:ext>
            </a:extLst>
          </p:cNvPr>
          <p:cNvSpPr/>
          <p:nvPr/>
        </p:nvSpPr>
        <p:spPr>
          <a:xfrm>
            <a:off x="10625436" y="2948980"/>
            <a:ext cx="510302" cy="510302"/>
          </a:xfrm>
          <a:prstGeom prst="roundRect">
            <a:avLst>
              <a:gd name="adj" fmla="val 6667"/>
            </a:avLst>
          </a:prstGeom>
          <a:solidFill>
            <a:srgbClr val="404245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9E7FDB44-4DA9-84D9-5522-525AC0031F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0507" y="2991486"/>
            <a:ext cx="340162" cy="425291"/>
          </a:xfrm>
          <a:prstGeom prst="rect">
            <a:avLst/>
          </a:prstGeom>
        </p:spPr>
      </p:pic>
      <p:sp>
        <p:nvSpPr>
          <p:cNvPr id="10" name="Text 5">
            <a:extLst>
              <a:ext uri="{FF2B5EF4-FFF2-40B4-BE49-F238E27FC236}">
                <a16:creationId xmlns:a16="http://schemas.microsoft.com/office/drawing/2014/main" id="{A90A47F2-4A60-2739-AEE0-17DD9853C93C}"/>
              </a:ext>
            </a:extLst>
          </p:cNvPr>
          <p:cNvSpPr/>
          <p:nvPr/>
        </p:nvSpPr>
        <p:spPr>
          <a:xfrm>
            <a:off x="11362552" y="3026847"/>
            <a:ext cx="289941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Gehörbildung trainieren</a:t>
            </a:r>
            <a:endParaRPr lang="en-US" sz="22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1F2B0793-D372-AD8C-3915-4D04584E1E63}"/>
              </a:ext>
            </a:extLst>
          </p:cNvPr>
          <p:cNvSpPr/>
          <p:nvPr/>
        </p:nvSpPr>
        <p:spPr>
          <a:xfrm>
            <a:off x="11362552" y="3871596"/>
            <a:ext cx="289941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Interaktive Übungen zur Verbesserung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6272D2B5-408A-D59E-A81E-E368F525DC60}"/>
              </a:ext>
            </a:extLst>
          </p:cNvPr>
          <p:cNvSpPr/>
          <p:nvPr/>
        </p:nvSpPr>
        <p:spPr>
          <a:xfrm>
            <a:off x="6280190" y="5401866"/>
            <a:ext cx="510302" cy="510302"/>
          </a:xfrm>
          <a:prstGeom prst="roundRect">
            <a:avLst>
              <a:gd name="adj" fmla="val 6667"/>
            </a:avLst>
          </a:prstGeom>
          <a:solidFill>
            <a:srgbClr val="404245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3" name="Image 3" descr="preencoded.png">
            <a:extLst>
              <a:ext uri="{FF2B5EF4-FFF2-40B4-BE49-F238E27FC236}">
                <a16:creationId xmlns:a16="http://schemas.microsoft.com/office/drawing/2014/main" id="{63C0EEDF-66D8-31D8-23F6-FA72CC7407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5260" y="5444371"/>
            <a:ext cx="340162" cy="425291"/>
          </a:xfrm>
          <a:prstGeom prst="rect">
            <a:avLst/>
          </a:prstGeom>
        </p:spPr>
      </p:pic>
      <p:sp>
        <p:nvSpPr>
          <p:cNvPr id="14" name="Text 8">
            <a:extLst>
              <a:ext uri="{FF2B5EF4-FFF2-40B4-BE49-F238E27FC236}">
                <a16:creationId xmlns:a16="http://schemas.microsoft.com/office/drawing/2014/main" id="{A2B36424-F21B-20AB-C182-28C039784678}"/>
              </a:ext>
            </a:extLst>
          </p:cNvPr>
          <p:cNvSpPr/>
          <p:nvPr/>
        </p:nvSpPr>
        <p:spPr>
          <a:xfrm>
            <a:off x="7017306" y="547973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Fortschrittskontrolle</a:t>
            </a:r>
            <a:endParaRPr lang="en-US" sz="2200" dirty="0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73F8A841-A265-E085-AAEB-261D87FE4177}"/>
              </a:ext>
            </a:extLst>
          </p:cNvPr>
          <p:cNvSpPr/>
          <p:nvPr/>
        </p:nvSpPr>
        <p:spPr>
          <a:xfrm>
            <a:off x="7017306" y="5970151"/>
            <a:ext cx="681930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Lernerfolge visualisieren und nachverfolgen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558AE01B-3DA6-B137-B991-6D6BDE796A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12138" y="7238560"/>
            <a:ext cx="2908836" cy="991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442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2F642-C848-F765-DE26-48F1F209E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C422D05C-3DD2-BF9C-0ACC-BDBAA32224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1BEE8D4A-2AAE-276D-1B7E-118F909811D2}"/>
              </a:ext>
            </a:extLst>
          </p:cNvPr>
          <p:cNvSpPr/>
          <p:nvPr/>
        </p:nvSpPr>
        <p:spPr>
          <a:xfrm>
            <a:off x="9023390" y="401770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2D4BA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Live-Demo</a:t>
            </a:r>
            <a:endParaRPr lang="en-US" sz="4450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40BF99A6-4587-75D3-D1BE-09E26CF05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2138" y="7238560"/>
            <a:ext cx="2908836" cy="991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782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2862" y="2222367"/>
            <a:ext cx="632233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2D4BA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Technische Umsetzung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992862" y="349812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2D4BA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Frontend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92862" y="4079266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Angular Framework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992862" y="452146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Tailwind CSS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92862" y="4963662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850"/>
              </a:lnSpc>
              <a:buSzPct val="100000"/>
            </a:pPr>
            <a:endParaRPr lang="en-US" sz="1750" dirty="0">
              <a:latin typeface="Arial Nova Light" panose="020B03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134773" y="349812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2D4BA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Backend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134773" y="4079266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C# Programmierung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134773" y="452146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REST-API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134773" y="4963662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Datenbanksystem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C49AFA3B-A36B-F0A1-A7E6-942503739A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2138" y="7238560"/>
            <a:ext cx="2908836" cy="99104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BD2E8F8C-C74F-29B5-C189-044D117829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6274" y="239488"/>
            <a:ext cx="5528223" cy="77506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59825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2D4BA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Herausforderungen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622233"/>
            <a:ext cx="2173724" cy="1306949"/>
          </a:xfrm>
          <a:prstGeom prst="roundRect">
            <a:avLst>
              <a:gd name="adj" fmla="val 2603"/>
            </a:avLst>
          </a:prstGeom>
          <a:solidFill>
            <a:srgbClr val="404245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1167" y="3076337"/>
            <a:ext cx="318968" cy="3986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194328" y="284904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Kommunikation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3194328" y="3339465"/>
            <a:ext cx="330505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Abstimmungsprozesse im Team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3080861" y="3913942"/>
            <a:ext cx="10642402" cy="15240"/>
          </a:xfrm>
          <a:prstGeom prst="roundRect">
            <a:avLst>
              <a:gd name="adj" fmla="val 223256"/>
            </a:avLst>
          </a:prstGeom>
          <a:solidFill>
            <a:srgbClr val="595B5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Shape 5"/>
          <p:cNvSpPr/>
          <p:nvPr/>
        </p:nvSpPr>
        <p:spPr>
          <a:xfrm>
            <a:off x="793790" y="4042529"/>
            <a:ext cx="4347567" cy="1306949"/>
          </a:xfrm>
          <a:prstGeom prst="roundRect">
            <a:avLst>
              <a:gd name="adj" fmla="val 2603"/>
            </a:avLst>
          </a:prstGeom>
          <a:solidFill>
            <a:srgbClr val="404245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8089" y="4496633"/>
            <a:ext cx="318968" cy="3986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68171" y="426934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Datenmodellierung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5368171" y="4759762"/>
            <a:ext cx="467820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Komplexität musikalischer Übungen abbilden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5254704" y="5334238"/>
            <a:ext cx="8468558" cy="15240"/>
          </a:xfrm>
          <a:prstGeom prst="roundRect">
            <a:avLst>
              <a:gd name="adj" fmla="val 223256"/>
            </a:avLst>
          </a:prstGeom>
          <a:solidFill>
            <a:srgbClr val="595B5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Shape 9"/>
          <p:cNvSpPr/>
          <p:nvPr/>
        </p:nvSpPr>
        <p:spPr>
          <a:xfrm>
            <a:off x="793790" y="5462826"/>
            <a:ext cx="6521410" cy="1306949"/>
          </a:xfrm>
          <a:prstGeom prst="roundRect">
            <a:avLst>
              <a:gd name="adj" fmla="val 2603"/>
            </a:avLst>
          </a:prstGeom>
          <a:solidFill>
            <a:srgbClr val="404245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5011" y="5916930"/>
            <a:ext cx="318968" cy="3986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542014" y="568964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Zeitmanagement</a:t>
            </a:r>
            <a:endParaRPr lang="en-US" sz="2200" dirty="0"/>
          </a:p>
        </p:txBody>
      </p:sp>
      <p:sp>
        <p:nvSpPr>
          <p:cNvPr id="16" name="Text 11"/>
          <p:cNvSpPr/>
          <p:nvPr/>
        </p:nvSpPr>
        <p:spPr>
          <a:xfrm>
            <a:off x="7542014" y="6180058"/>
            <a:ext cx="355949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Parallele Entwicklung koordinieren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0356F87D-9789-F9C5-5A96-30ECD4101D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12138" y="7238560"/>
            <a:ext cx="2908836" cy="991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16499"/>
            <a:ext cx="704588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2D4BA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Erkenntnisse &amp; Learnings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8348" y="2678906"/>
            <a:ext cx="2152055" cy="1306949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4892" y="3294936"/>
            <a:ext cx="318968" cy="39862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57217" y="2905720"/>
            <a:ext cx="299525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Durchdachte Planung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5357217" y="3396139"/>
            <a:ext cx="316908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Datenmodell zuerst entwerfen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sp>
        <p:nvSpPr>
          <p:cNvPr id="7" name="Shape 3"/>
          <p:cNvSpPr/>
          <p:nvPr/>
        </p:nvSpPr>
        <p:spPr>
          <a:xfrm>
            <a:off x="5187077" y="3998952"/>
            <a:ext cx="8592860" cy="15240"/>
          </a:xfrm>
          <a:prstGeom prst="roundRect">
            <a:avLst>
              <a:gd name="adj" fmla="val 223256"/>
            </a:avLst>
          </a:prstGeom>
          <a:solidFill>
            <a:srgbClr val="595B5E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2381" y="4042529"/>
            <a:ext cx="4304109" cy="1306949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4892" y="4496633"/>
            <a:ext cx="318968" cy="398621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433304" y="426934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Teamarbeit</a:t>
            </a:r>
            <a:endParaRPr lang="en-US" sz="2200" dirty="0"/>
          </a:p>
        </p:txBody>
      </p:sp>
      <p:sp>
        <p:nvSpPr>
          <p:cNvPr id="11" name="Text 5"/>
          <p:cNvSpPr/>
          <p:nvPr/>
        </p:nvSpPr>
        <p:spPr>
          <a:xfrm>
            <a:off x="6433304" y="4759762"/>
            <a:ext cx="428684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Regelmäßige Updates sind entscheidend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sp>
        <p:nvSpPr>
          <p:cNvPr id="12" name="Shape 6"/>
          <p:cNvSpPr/>
          <p:nvPr/>
        </p:nvSpPr>
        <p:spPr>
          <a:xfrm>
            <a:off x="6263164" y="5362575"/>
            <a:ext cx="7516773" cy="15240"/>
          </a:xfrm>
          <a:prstGeom prst="roundRect">
            <a:avLst>
              <a:gd name="adj" fmla="val 223256"/>
            </a:avLst>
          </a:prstGeom>
          <a:solidFill>
            <a:srgbClr val="595B5E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294" y="5406152"/>
            <a:ext cx="6456164" cy="1306949"/>
          </a:xfrm>
          <a:prstGeom prst="rect">
            <a:avLst/>
          </a:prstGeom>
        </p:spPr>
      </p:pic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94773" y="5860256"/>
            <a:ext cx="318968" cy="398621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7509272" y="563296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Technologieauswahl</a:t>
            </a:r>
            <a:endParaRPr lang="en-US" sz="2200" dirty="0"/>
          </a:p>
        </p:txBody>
      </p:sp>
      <p:sp>
        <p:nvSpPr>
          <p:cNvPr id="16" name="Text 8"/>
          <p:cNvSpPr/>
          <p:nvPr/>
        </p:nvSpPr>
        <p:spPr>
          <a:xfrm>
            <a:off x="7509272" y="6123384"/>
            <a:ext cx="446031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Geeignete Tools für Anforderungen wählen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CA1A0563-7517-2640-DD42-D36B7740499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12138" y="7238560"/>
            <a:ext cx="2908836" cy="991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636151"/>
            <a:ext cx="649700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2D4BA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Zukünftige Entwicklung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6280190" y="1685092"/>
            <a:ext cx="7556421" cy="1306949"/>
          </a:xfrm>
          <a:prstGeom prst="roundRect">
            <a:avLst>
              <a:gd name="adj" fmla="val 2603"/>
            </a:avLst>
          </a:prstGeom>
          <a:solidFill>
            <a:srgbClr val="40424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2"/>
          <p:cNvSpPr/>
          <p:nvPr/>
        </p:nvSpPr>
        <p:spPr>
          <a:xfrm>
            <a:off x="6507004" y="1911906"/>
            <a:ext cx="288643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Neue Übungsmodule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507004" y="2402324"/>
            <a:ext cx="710279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Drei weitere Übungstypen in Planung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280190" y="3218855"/>
            <a:ext cx="7556421" cy="1306949"/>
          </a:xfrm>
          <a:prstGeom prst="roundRect">
            <a:avLst>
              <a:gd name="adj" fmla="val 2603"/>
            </a:avLst>
          </a:prstGeom>
          <a:solidFill>
            <a:srgbClr val="40424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5"/>
          <p:cNvSpPr/>
          <p:nvPr/>
        </p:nvSpPr>
        <p:spPr>
          <a:xfrm>
            <a:off x="6507004" y="344566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Rollen-System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07004" y="3936087"/>
            <a:ext cx="710279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Lehrer-Schüler-Interaktion implementieren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6280190" y="4752618"/>
            <a:ext cx="7556421" cy="1306949"/>
          </a:xfrm>
          <a:prstGeom prst="roundRect">
            <a:avLst>
              <a:gd name="adj" fmla="val 2603"/>
            </a:avLst>
          </a:prstGeom>
          <a:solidFill>
            <a:srgbClr val="40424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8"/>
          <p:cNvSpPr/>
          <p:nvPr/>
        </p:nvSpPr>
        <p:spPr>
          <a:xfrm>
            <a:off x="6507004" y="497943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Prüfungssimulation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507004" y="5469850"/>
            <a:ext cx="710279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Realistische Prüfungssituationen nachstellen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6280190" y="6286381"/>
            <a:ext cx="7556421" cy="1306949"/>
          </a:xfrm>
          <a:prstGeom prst="roundRect">
            <a:avLst>
              <a:gd name="adj" fmla="val 2603"/>
            </a:avLst>
          </a:prstGeom>
          <a:solidFill>
            <a:srgbClr val="40424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4" name="Text 11"/>
          <p:cNvSpPr/>
          <p:nvPr/>
        </p:nvSpPr>
        <p:spPr>
          <a:xfrm>
            <a:off x="6507004" y="6513195"/>
            <a:ext cx="362378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Datenmodell-Optimierung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507004" y="7003613"/>
            <a:ext cx="710279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Strukturelle Verbesserungen vornehmen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22F7FC60-7F07-BEAF-C778-8F28E1935E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2138" y="7729418"/>
            <a:ext cx="2908836" cy="50018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715804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2D4BA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Vielen Dank für Ihre Aufmerksamkeit!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2586871"/>
            <a:ext cx="3608070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2</a:t>
            </a:r>
            <a:endParaRPr lang="en-US" sz="5850" dirty="0"/>
          </a:p>
        </p:txBody>
      </p:sp>
      <p:sp>
        <p:nvSpPr>
          <p:cNvPr id="5" name="Text 2"/>
          <p:cNvSpPr/>
          <p:nvPr/>
        </p:nvSpPr>
        <p:spPr>
          <a:xfrm>
            <a:off x="6666548" y="361866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Entwickler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280190" y="4109085"/>
            <a:ext cx="360807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Erik &amp; Tobias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228421" y="2586871"/>
            <a:ext cx="3608189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1</a:t>
            </a:r>
            <a:endParaRPr lang="en-US" sz="5850" dirty="0"/>
          </a:p>
        </p:txBody>
      </p:sp>
      <p:sp>
        <p:nvSpPr>
          <p:cNvPr id="8" name="Text 5"/>
          <p:cNvSpPr/>
          <p:nvPr/>
        </p:nvSpPr>
        <p:spPr>
          <a:xfrm>
            <a:off x="10614898" y="361866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Ziel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0228421" y="4109085"/>
            <a:ext cx="360818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Optimale Prüfungsvorbereitung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8254246" y="5265777"/>
            <a:ext cx="3608189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∞</a:t>
            </a:r>
            <a:endParaRPr lang="en-US" sz="5850" dirty="0"/>
          </a:p>
        </p:txBody>
      </p:sp>
      <p:sp>
        <p:nvSpPr>
          <p:cNvPr id="11" name="Text 8"/>
          <p:cNvSpPr/>
          <p:nvPr/>
        </p:nvSpPr>
        <p:spPr>
          <a:xfrm>
            <a:off x="8640723" y="629757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Potenzial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254246" y="6787991"/>
            <a:ext cx="360818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BDA189"/>
                </a:solidFill>
                <a:latin typeface="Arial Nova Light" panose="020B0304020202020204" pitchFamily="34" charset="0"/>
                <a:ea typeface="Manrope" pitchFamily="34" charset="-122"/>
                <a:cs typeface="Manrope" pitchFamily="34" charset="-120"/>
              </a:rPr>
              <a:t>Unbegrenzte Übungsmöglichkeiten</a:t>
            </a:r>
            <a:endParaRPr lang="en-US" sz="1750" dirty="0">
              <a:latin typeface="Arial Nova Light" panose="020B0304020202020204" pitchFamily="34" charset="0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A36FC956-267C-F302-EE0E-D6CF0784EA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2138" y="7238560"/>
            <a:ext cx="2908836" cy="991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256</Words>
  <Application>Microsoft Office PowerPoint</Application>
  <PresentationFormat>Benutzerdefiniert</PresentationFormat>
  <Paragraphs>79</Paragraphs>
  <Slides>9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Arial Nova Light</vt:lpstr>
      <vt:lpstr>Arial</vt:lpstr>
      <vt:lpstr>Prata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Keplinger Erik</cp:lastModifiedBy>
  <cp:revision>18</cp:revision>
  <dcterms:created xsi:type="dcterms:W3CDTF">2025-06-05T09:12:22Z</dcterms:created>
  <dcterms:modified xsi:type="dcterms:W3CDTF">2026-01-15T10:02:24Z</dcterms:modified>
</cp:coreProperties>
</file>